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Lato" panose="020F0502020204030203" pitchFamily="34" charset="0"/>
      <p:regular r:id="rId17"/>
    </p:embeddedFont>
    <p:embeddedFont>
      <p:font typeface="Lato Bold" panose="020F0502020204030203" charset="0"/>
      <p:regular r:id="rId18"/>
    </p:embeddedFont>
    <p:embeddedFont>
      <p:font typeface="Poppins" panose="00000500000000000000" pitchFamily="2" charset="0"/>
      <p:regular r:id="rId19"/>
      <p:bold r:id="rId20"/>
      <p:italic r:id="rId21"/>
    </p:embeddedFont>
    <p:embeddedFont>
      <p:font typeface="Poppins Bold" panose="00000800000000000000" charset="0"/>
      <p:regular r:id="rId22"/>
    </p:embeddedFont>
    <p:embeddedFont>
      <p:font typeface="Poppins Ultra-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151" y="4571985"/>
            <a:ext cx="12859928" cy="224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1"/>
              </a:lnSpc>
            </a:pPr>
            <a:r>
              <a:rPr lang="en-US" sz="8001" spc="400">
                <a:solidFill>
                  <a:srgbClr val="2B4A9D"/>
                </a:solidFill>
                <a:latin typeface="Poppins Bold"/>
              </a:rPr>
              <a:t>Armazenamento Interno com Arquivos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151" y="7260387"/>
            <a:ext cx="12616379" cy="298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</a:t>
            </a:r>
          </a:p>
          <a:p>
            <a:pPr>
              <a:lnSpc>
                <a:spcPts val="4900"/>
              </a:lnSpc>
            </a:pPr>
            <a:r>
              <a:rPr lang="en-US" sz="3200" spc="350">
                <a:solidFill>
                  <a:srgbClr val="000000"/>
                </a:solidFill>
                <a:latin typeface="Lato"/>
              </a:rPr>
              <a:t>Paulo Vitor</a:t>
            </a:r>
            <a:endParaRPr lang="en-US" sz="3200" spc="350" dirty="0">
              <a:solidFill>
                <a:srgbClr val="000000"/>
              </a:solidFill>
              <a:latin typeface="Lato"/>
            </a:endParaRPr>
          </a:p>
          <a:p>
            <a:pPr>
              <a:lnSpc>
                <a:spcPts val="4900"/>
              </a:lnSpc>
            </a:pPr>
            <a:r>
              <a:rPr lang="en-US" sz="32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200" spc="350" dirty="0">
                <a:solidFill>
                  <a:srgbClr val="000000"/>
                </a:solidFill>
                <a:latin typeface="Lato"/>
              </a:rPr>
              <a:t> Vasconcelos</a:t>
            </a:r>
          </a:p>
          <a:p>
            <a:pPr>
              <a:lnSpc>
                <a:spcPts val="4900"/>
              </a:lnSpc>
            </a:pPr>
            <a:r>
              <a:rPr lang="en-US" sz="3200" spc="350" dirty="0">
                <a:solidFill>
                  <a:srgbClr val="000000"/>
                </a:solidFill>
                <a:latin typeface="Lato"/>
              </a:rPr>
              <a:t>João Hungria</a:t>
            </a:r>
          </a:p>
          <a:p>
            <a:pPr>
              <a:lnSpc>
                <a:spcPts val="4480"/>
              </a:lnSpc>
            </a:pPr>
            <a:endParaRPr lang="en-US" sz="3200" spc="320" dirty="0">
              <a:solidFill>
                <a:srgbClr val="000000"/>
              </a:solidFill>
              <a:latin typeface="La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158202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194238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68482" y="4233296"/>
            <a:ext cx="829509" cy="1966473"/>
            <a:chOff x="0" y="0"/>
            <a:chExt cx="2354580" cy="5581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123218" y="2553429"/>
            <a:ext cx="7343333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Como funciona o armazenamento interno com arquivos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3218" y="5960317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Aplicação Lista de Tarefas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3858" y="4920424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Classe File e Directory</a:t>
            </a:r>
          </a:p>
        </p:txBody>
      </p:sp>
      <p:grpSp>
        <p:nvGrpSpPr>
          <p:cNvPr id="24" name="Group 24"/>
          <p:cNvGrpSpPr/>
          <p:nvPr/>
        </p:nvGrpSpPr>
        <p:grpSpPr>
          <a:xfrm rot="-5400000">
            <a:off x="568482" y="5272355"/>
            <a:ext cx="829509" cy="1966473"/>
            <a:chOff x="0" y="0"/>
            <a:chExt cx="2354580" cy="55818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123858" y="6998541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Método _carregarTarefas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23858" y="3882200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Pacote path_provider</a:t>
            </a:r>
          </a:p>
        </p:txBody>
      </p:sp>
      <p:grpSp>
        <p:nvGrpSpPr>
          <p:cNvPr id="28" name="Group 28"/>
          <p:cNvGrpSpPr/>
          <p:nvPr/>
        </p:nvGrpSpPr>
        <p:grpSpPr>
          <a:xfrm rot="-5400000">
            <a:off x="568482" y="6311413"/>
            <a:ext cx="829509" cy="1966473"/>
            <a:chOff x="0" y="0"/>
            <a:chExt cx="2354580" cy="55818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568482" y="7350472"/>
            <a:ext cx="829509" cy="1966473"/>
            <a:chOff x="0" y="0"/>
            <a:chExt cx="2354580" cy="558188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123858" y="8038434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Método _salvarTarefas </a:t>
            </a:r>
          </a:p>
        </p:txBody>
      </p:sp>
      <p:grpSp>
        <p:nvGrpSpPr>
          <p:cNvPr id="33" name="Group 33"/>
          <p:cNvGrpSpPr/>
          <p:nvPr/>
        </p:nvGrpSpPr>
        <p:grpSpPr>
          <a:xfrm rot="-5400000">
            <a:off x="568482" y="8389530"/>
            <a:ext cx="829509" cy="1966473"/>
            <a:chOff x="0" y="0"/>
            <a:chExt cx="2354580" cy="55818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123858" y="9065745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Método _adicionarTarefa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389357"/>
            <a:ext cx="16230600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5600" spc="280">
                <a:solidFill>
                  <a:srgbClr val="2B4A9D"/>
                </a:solidFill>
                <a:latin typeface="Poppins Ultra-Bold"/>
              </a:rPr>
              <a:t>Como funciona o armazenamento interno com arquivos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3929" y="2674614"/>
            <a:ext cx="16815371" cy="432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O armazenamento interno com arquivos refere-se à capacidade de um aplicativo de armazenar dados localmente no dispositivo do usuário.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Ao trabalhar com armazenamento interno de arquivos, os desenvolvedores têm acesso a um diretório privado específico para o aplicativo, onde podem ler e gravar arquivos sem a necessidade de permissões especiais do usuário.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4711109" y="6490068"/>
            <a:ext cx="8865781" cy="1725527"/>
          </a:xfrm>
          <a:custGeom>
            <a:avLst/>
            <a:gdLst/>
            <a:ahLst/>
            <a:cxnLst/>
            <a:rect l="l" t="t" r="r" b="b"/>
            <a:pathLst>
              <a:path w="8865781" h="1725527">
                <a:moveTo>
                  <a:pt x="0" y="0"/>
                </a:moveTo>
                <a:lnTo>
                  <a:pt x="8865782" y="0"/>
                </a:lnTo>
                <a:lnTo>
                  <a:pt x="8865782" y="1725527"/>
                </a:lnTo>
                <a:lnTo>
                  <a:pt x="0" y="1725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459" b="-1845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3658873" y="389357"/>
            <a:ext cx="10970254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5799" spc="289">
                <a:solidFill>
                  <a:srgbClr val="2B4A9D"/>
                </a:solidFill>
                <a:latin typeface="Poppins Ultra-Bold"/>
              </a:rPr>
              <a:t>Pacote path_provider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3028" y="1569289"/>
            <a:ext cx="16896272" cy="405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>
                <a:solidFill>
                  <a:srgbClr val="000000"/>
                </a:solidFill>
                <a:latin typeface="Lato"/>
              </a:rPr>
              <a:t>O path_provider é um pacote do Flutter que fornece acesso aos caminhos de armazenamento comuns em dispositivos móveis, como a pasta de documentos e a pasta de armazenamento interno. Ele é útil quando você precisa armazenar arquivos que devem ser acessíveis pelo usuário ou pelo aplicativo.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>
                <a:solidFill>
                  <a:srgbClr val="000000"/>
                </a:solidFill>
                <a:latin typeface="Lato"/>
              </a:rPr>
              <a:t>Para começar a usar o path_provider, primeiro você precisa adicioná-lo como dependência no seu arquivo pubspec.yaml: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58873" y="379832"/>
            <a:ext cx="1097025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Classes File e Directory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4977" y="3161461"/>
            <a:ext cx="16442627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8" lvl="1" indent="-431799" algn="just">
              <a:lnSpc>
                <a:spcPts val="5599"/>
              </a:lnSpc>
              <a:buFont typeface="Arial"/>
              <a:buChar char="•"/>
            </a:pPr>
            <a:r>
              <a:rPr lang="en-US" sz="3999" spc="399">
                <a:solidFill>
                  <a:srgbClr val="000000"/>
                </a:solidFill>
                <a:latin typeface="Lato"/>
              </a:rPr>
              <a:t>Algumas classes, como File e Directory, são essenciais para interagir com o sistema de arquivos do dispositivo e são frequentemente usadas ao desenvolver aplicativos que precisam ler, escrever ou manipular arquivos e diretórios.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492570" y="379832"/>
            <a:ext cx="1130286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Classe 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3028" y="2285321"/>
            <a:ext cx="17096129" cy="61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 classe File é usada para representar um arquivo.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Ela fornece métodos para ler, escrever, verificar a existência, excluir, renomear e obter informações sobre o arquivo (como tamanho e data de modificação), entre outras operações.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Alguns dos métodos mais comuns da classe File incluem: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exists(): Verifica se o arquivo existe.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readAsString(): Lê o conteúdo do arquivo como uma string.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writeAsString(): Escreve uma string no arquivo.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delete(): Exclui o arquivo do sistema de arquivos.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rename(): Renomeia o arquivo.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3983398" y="2305452"/>
            <a:ext cx="10321204" cy="6786545"/>
          </a:xfrm>
          <a:custGeom>
            <a:avLst/>
            <a:gdLst/>
            <a:ahLst/>
            <a:cxnLst/>
            <a:rect l="l" t="t" r="r" b="b"/>
            <a:pathLst>
              <a:path w="10321204" h="6786545">
                <a:moveTo>
                  <a:pt x="0" y="0"/>
                </a:moveTo>
                <a:lnTo>
                  <a:pt x="10321204" y="0"/>
                </a:lnTo>
                <a:lnTo>
                  <a:pt x="10321204" y="6786545"/>
                </a:lnTo>
                <a:lnTo>
                  <a:pt x="0" y="6786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3492570" y="389357"/>
            <a:ext cx="11302861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5600" spc="280">
                <a:solidFill>
                  <a:srgbClr val="2B4A9D"/>
                </a:solidFill>
                <a:latin typeface="Poppins Ultra-Bold"/>
              </a:rPr>
              <a:t>Classe File - Exemplo de uso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3028" y="2294846"/>
            <a:ext cx="16896272" cy="504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A classe Directory é usada para representar um diretório no sistema de arquivos.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Ela fornece métodos para criar, listar, verificar a existência e excluir diretórios, entre outras operações.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Métodos: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exists(): Verifica se o diretório existe.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create(): Cria o diretório.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list(): Lista o conteúdo do diretório.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delete(): Exclui o diretório.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92570" y="379832"/>
            <a:ext cx="1130286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Classe Directory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3894791" y="2121630"/>
            <a:ext cx="10498418" cy="7136670"/>
          </a:xfrm>
          <a:custGeom>
            <a:avLst/>
            <a:gdLst/>
            <a:ahLst/>
            <a:cxnLst/>
            <a:rect l="l" t="t" r="r" b="b"/>
            <a:pathLst>
              <a:path w="10498418" h="7136670">
                <a:moveTo>
                  <a:pt x="0" y="0"/>
                </a:moveTo>
                <a:lnTo>
                  <a:pt x="10498418" y="0"/>
                </a:lnTo>
                <a:lnTo>
                  <a:pt x="10498418" y="7136670"/>
                </a:lnTo>
                <a:lnTo>
                  <a:pt x="0" y="7136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3492570" y="389357"/>
            <a:ext cx="11302861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5600" spc="280">
                <a:solidFill>
                  <a:srgbClr val="2B4A9D"/>
                </a:solidFill>
                <a:latin typeface="Poppins Ultra-Bold"/>
              </a:rPr>
              <a:t>Classe Directory - Exemplo de uso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520023" y="3409313"/>
            <a:ext cx="3247181" cy="6041503"/>
          </a:xfrm>
          <a:custGeom>
            <a:avLst/>
            <a:gdLst/>
            <a:ahLst/>
            <a:cxnLst/>
            <a:rect l="l" t="t" r="r" b="b"/>
            <a:pathLst>
              <a:path w="3247181" h="6041503">
                <a:moveTo>
                  <a:pt x="0" y="0"/>
                </a:moveTo>
                <a:lnTo>
                  <a:pt x="3247182" y="0"/>
                </a:lnTo>
                <a:lnTo>
                  <a:pt x="3247182" y="6041503"/>
                </a:lnTo>
                <a:lnTo>
                  <a:pt x="0" y="6041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6" r="-27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7500880" y="3457105"/>
            <a:ext cx="3286241" cy="5993711"/>
          </a:xfrm>
          <a:custGeom>
            <a:avLst/>
            <a:gdLst/>
            <a:ahLst/>
            <a:cxnLst/>
            <a:rect l="l" t="t" r="r" b="b"/>
            <a:pathLst>
              <a:path w="3286241" h="5993711">
                <a:moveTo>
                  <a:pt x="0" y="0"/>
                </a:moveTo>
                <a:lnTo>
                  <a:pt x="3286240" y="0"/>
                </a:lnTo>
                <a:lnTo>
                  <a:pt x="3286240" y="5993711"/>
                </a:lnTo>
                <a:lnTo>
                  <a:pt x="0" y="5993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3521244" y="3461277"/>
            <a:ext cx="3275068" cy="5989538"/>
          </a:xfrm>
          <a:custGeom>
            <a:avLst/>
            <a:gdLst/>
            <a:ahLst/>
            <a:cxnLst/>
            <a:rect l="l" t="t" r="r" b="b"/>
            <a:pathLst>
              <a:path w="3275068" h="5989538">
                <a:moveTo>
                  <a:pt x="0" y="0"/>
                </a:moveTo>
                <a:lnTo>
                  <a:pt x="3275068" y="0"/>
                </a:lnTo>
                <a:lnTo>
                  <a:pt x="3275068" y="5989539"/>
                </a:lnTo>
                <a:lnTo>
                  <a:pt x="0" y="5989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3658873" y="379832"/>
            <a:ext cx="1149990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Aplicação Lista de Tarefas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7461" y="1569289"/>
            <a:ext cx="16637320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Baixe o arquivo lista_de_tarefas.dart, nessa aplicação foi utilizado armazenamento de arquivos para criar e salvar uma lista de tarefas simples, em um arquivo txt.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3023664" y="3602559"/>
            <a:ext cx="12240671" cy="5995431"/>
          </a:xfrm>
          <a:custGeom>
            <a:avLst/>
            <a:gdLst/>
            <a:ahLst/>
            <a:cxnLst/>
            <a:rect l="l" t="t" r="r" b="b"/>
            <a:pathLst>
              <a:path w="12240671" h="5995431">
                <a:moveTo>
                  <a:pt x="0" y="0"/>
                </a:moveTo>
                <a:lnTo>
                  <a:pt x="12240672" y="0"/>
                </a:lnTo>
                <a:lnTo>
                  <a:pt x="12240672" y="5995431"/>
                </a:lnTo>
                <a:lnTo>
                  <a:pt x="0" y="5995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3658873" y="379832"/>
            <a:ext cx="1149990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Método _carregarTarefas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7461" y="1569289"/>
            <a:ext cx="16637320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Este método carrega as tarefas salvas de um arquivo de texto no armazenamento interno do dispositivo.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Caso o arquivo já exista, ele lê o conteúdo e atualiza a lista de tarefas.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3251243" y="4643592"/>
            <a:ext cx="12315165" cy="3890878"/>
          </a:xfrm>
          <a:custGeom>
            <a:avLst/>
            <a:gdLst/>
            <a:ahLst/>
            <a:cxnLst/>
            <a:rect l="l" t="t" r="r" b="b"/>
            <a:pathLst>
              <a:path w="12315165" h="3890878">
                <a:moveTo>
                  <a:pt x="0" y="0"/>
                </a:moveTo>
                <a:lnTo>
                  <a:pt x="12315165" y="0"/>
                </a:lnTo>
                <a:lnTo>
                  <a:pt x="12315165" y="3890879"/>
                </a:lnTo>
                <a:lnTo>
                  <a:pt x="0" y="3890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3658873" y="379832"/>
            <a:ext cx="1149990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Método _salvarTarefas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3845" y="1809402"/>
            <a:ext cx="16637320" cy="223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Este método salva as tarefas atuais em um arquivo de texto no armazenamento interno do dispositivo.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Ele converte a lista de tarefas em uma única string, separando as tarefas por quebras de linha.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58873" y="379832"/>
            <a:ext cx="1149990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Método _adicionarTarefa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1980" y="2773709"/>
            <a:ext cx="16637320" cy="335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Este método é chamado quando o usuário clica no botão flutuante “+” para adicionar uma nova tarefa.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Ele exibe um diálogo de alerta com um campo de texto para que o usuário insira a sua nova tarefa.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Então, após o usuário confirmar a adição da tarefa, ela é adicionada à lista, salva e o diálogo é fechado.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3768095" y="845216"/>
            <a:ext cx="8246546" cy="8596569"/>
          </a:xfrm>
          <a:custGeom>
            <a:avLst/>
            <a:gdLst/>
            <a:ahLst/>
            <a:cxnLst/>
            <a:rect l="l" t="t" r="r" b="b"/>
            <a:pathLst>
              <a:path w="8246546" h="8596569">
                <a:moveTo>
                  <a:pt x="0" y="0"/>
                </a:moveTo>
                <a:lnTo>
                  <a:pt x="8246545" y="0"/>
                </a:lnTo>
                <a:lnTo>
                  <a:pt x="8246545" y="8596568"/>
                </a:lnTo>
                <a:lnTo>
                  <a:pt x="0" y="8596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6673" y="1687967"/>
            <a:ext cx="16442627" cy="427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sz="2799" spc="139">
                <a:solidFill>
                  <a:srgbClr val="000000"/>
                </a:solidFill>
                <a:latin typeface="Poppins Bold"/>
              </a:rPr>
              <a:t>Building user interfaces with Flutter.</a:t>
            </a:r>
            <a:r>
              <a:rPr lang="en-US" sz="2799" spc="139">
                <a:solidFill>
                  <a:srgbClr val="000000"/>
                </a:solidFill>
                <a:latin typeface="Poppins"/>
              </a:rPr>
              <a:t> Disponível em: &lt;https://docs.flutter.dev/ui&gt;. Acesso em: 24 mar. 2024.</a:t>
            </a:r>
          </a:p>
          <a:p>
            <a:pPr algn="just">
              <a:lnSpc>
                <a:spcPts val="4227"/>
              </a:lnSpc>
            </a:pPr>
            <a:endParaRPr lang="en-US" sz="2799" spc="139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227"/>
              </a:lnSpc>
            </a:pPr>
            <a:r>
              <a:rPr lang="en-US" sz="2799" spc="139">
                <a:solidFill>
                  <a:srgbClr val="000000"/>
                </a:solidFill>
                <a:latin typeface="Poppins"/>
              </a:rPr>
              <a:t>VIANA, G. </a:t>
            </a:r>
            <a:r>
              <a:rPr lang="en-US" sz="2799" spc="139">
                <a:solidFill>
                  <a:srgbClr val="000000"/>
                </a:solidFill>
                <a:latin typeface="Poppins Bold"/>
              </a:rPr>
              <a:t>Obtendo acesso às pastas de documentos e de armazenamento interno com o path_provider no Flutter.</a:t>
            </a:r>
            <a:r>
              <a:rPr lang="en-US" sz="2799" spc="139">
                <a:solidFill>
                  <a:srgbClr val="000000"/>
                </a:solidFill>
                <a:latin typeface="Poppins"/>
              </a:rPr>
              <a:t> Disponível em: &lt;https://medium.com/@gsvianna13/obtendo-acesso-%C3%A0s-pastas-de-documentos-e-armazenamento-interno-com-o-path-provider-no-flutter-6b68f11b5cfd&gt;. Acesso em: 24 mar. 2024.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654</Words>
  <Application>Microsoft Office PowerPoint</Application>
  <PresentationFormat>Personalizar</PresentationFormat>
  <Paragraphs>56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Poppins Ultra-Bold</vt:lpstr>
      <vt:lpstr>Poppins Bold</vt:lpstr>
      <vt:lpstr>Poppins</vt:lpstr>
      <vt:lpstr>Calibri</vt:lpstr>
      <vt:lpstr>Arial</vt:lpstr>
      <vt:lpstr>Lato</vt:lpstr>
      <vt:lpstr>Lato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Aula12-Armazenamento Interno com Arquivos</dc:title>
  <cp:lastModifiedBy>Office</cp:lastModifiedBy>
  <cp:revision>3</cp:revision>
  <dcterms:created xsi:type="dcterms:W3CDTF">2006-08-16T00:00:00Z</dcterms:created>
  <dcterms:modified xsi:type="dcterms:W3CDTF">2025-11-25T01:47:42Z</dcterms:modified>
  <dc:identifier>DAF-XfFka0w</dc:identifier>
</cp:coreProperties>
</file>