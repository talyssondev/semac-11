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93" r:id="rId5"/>
    <p:sldId id="294" r:id="rId6"/>
    <p:sldId id="286" r:id="rId7"/>
    <p:sldId id="290" r:id="rId8"/>
    <p:sldId id="285" r:id="rId9"/>
    <p:sldId id="287" r:id="rId10"/>
    <p:sldId id="296" r:id="rId11"/>
    <p:sldId id="297" r:id="rId12"/>
    <p:sldId id="298" r:id="rId13"/>
    <p:sldId id="299" r:id="rId14"/>
    <p:sldId id="288" r:id="rId15"/>
    <p:sldId id="292" r:id="rId16"/>
    <p:sldId id="302" r:id="rId17"/>
    <p:sldId id="300" r:id="rId18"/>
    <p:sldId id="304" r:id="rId19"/>
    <p:sldId id="289" r:id="rId20"/>
    <p:sldId id="291" r:id="rId21"/>
    <p:sldId id="303" r:id="rId22"/>
    <p:sldId id="280" r:id="rId23"/>
  </p:sldIdLst>
  <p:sldSz cx="18288000" cy="10287000"/>
  <p:notesSz cx="6858000" cy="9144000"/>
  <p:embeddedFontLst>
    <p:embeddedFont>
      <p:font typeface="Lato" panose="020F0502020204030203" pitchFamily="34" charset="0"/>
      <p:regular r:id="rId24"/>
      <p:bold r:id="rId25"/>
    </p:embeddedFont>
    <p:embeddedFont>
      <p:font typeface="Lato Bold" panose="020F0502020204030203" charset="0"/>
      <p:regular r:id="rId26"/>
    </p:embeddedFont>
    <p:embeddedFont>
      <p:font typeface="Poppins Bold" panose="020B0604020202020204" charset="0"/>
      <p:regular r:id="rId27"/>
    </p:embeddedFont>
    <p:embeddedFont>
      <p:font typeface="Poppins Ultra-Bold" panose="020B060402020202020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774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flutter.dev/data-and-backend/state-mgmt/ephemeral-vs-app" TargetMode="External"/><Relationship Id="rId2" Type="http://schemas.openxmlformats.org/officeDocument/2006/relationships/hyperlink" Target="https://medium.com/@maizalouise/setstate-e-o-gerenciamento-de-estado-no-flutter-60128977d4d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alura.com.br/artigos/como-gerenciar-estados-com-flutter-provider" TargetMode="External"/><Relationship Id="rId5" Type="http://schemas.openxmlformats.org/officeDocument/2006/relationships/hyperlink" Target="https://docs.flutter.dev/data-and-backend/state-mgmt/simple" TargetMode="External"/><Relationship Id="rId4" Type="http://schemas.openxmlformats.org/officeDocument/2006/relationships/hyperlink" Target="https://www.alura.com.br/artigos/gerenciamento-de-estados-flutter-principais-ferramenta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700000">
            <a:off x="15004959" y="1860459"/>
            <a:ext cx="6566081" cy="6566081"/>
            <a:chOff x="0" y="0"/>
            <a:chExt cx="1913890" cy="191389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1913890" y="0"/>
                  </a:lnTo>
                  <a:lnTo>
                    <a:pt x="1913890" y="1913890"/>
                  </a:lnTo>
                  <a:lnTo>
                    <a:pt x="0" y="1913890"/>
                  </a:lnTo>
                  <a:close/>
                </a:path>
              </a:pathLst>
            </a:custGeom>
            <a:solidFill>
              <a:srgbClr val="5271FF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" name="Group 4"/>
          <p:cNvGrpSpPr/>
          <p:nvPr/>
        </p:nvGrpSpPr>
        <p:grpSpPr>
          <a:xfrm rot="2700000">
            <a:off x="15361560" y="2217060"/>
            <a:ext cx="5852880" cy="5852880"/>
            <a:chOff x="0" y="0"/>
            <a:chExt cx="1913890" cy="191389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6" name="Group 6"/>
          <p:cNvGrpSpPr/>
          <p:nvPr/>
        </p:nvGrpSpPr>
        <p:grpSpPr>
          <a:xfrm rot="2700000">
            <a:off x="11951024" y="8497790"/>
            <a:ext cx="5218171" cy="6164339"/>
            <a:chOff x="0" y="0"/>
            <a:chExt cx="1620126" cy="191389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20126" cy="1913890"/>
            </a:xfrm>
            <a:custGeom>
              <a:avLst/>
              <a:gdLst/>
              <a:ahLst/>
              <a:cxnLst/>
              <a:rect l="l" t="t" r="r" b="b"/>
              <a:pathLst>
                <a:path w="1620126" h="1913890">
                  <a:moveTo>
                    <a:pt x="0" y="0"/>
                  </a:moveTo>
                  <a:lnTo>
                    <a:pt x="0" y="1913890"/>
                  </a:lnTo>
                  <a:lnTo>
                    <a:pt x="1620126" y="1913890"/>
                  </a:lnTo>
                  <a:lnTo>
                    <a:pt x="1620126" y="0"/>
                  </a:lnTo>
                  <a:lnTo>
                    <a:pt x="0" y="0"/>
                  </a:lnTo>
                  <a:close/>
                  <a:moveTo>
                    <a:pt x="1559166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559166" y="59690"/>
                  </a:lnTo>
                  <a:lnTo>
                    <a:pt x="1559166" y="185293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79737" y="4610100"/>
            <a:ext cx="13335015" cy="14273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2600"/>
              </a:lnSpc>
            </a:pPr>
            <a:r>
              <a:rPr lang="pt-BR" sz="6000" spc="600" dirty="0">
                <a:solidFill>
                  <a:srgbClr val="2B4A9D"/>
                </a:solidFill>
                <a:latin typeface="Poppins Bold"/>
              </a:rPr>
              <a:t>Manipulação de Estados</a:t>
            </a:r>
            <a:endParaRPr lang="en-US" sz="6000" spc="600" dirty="0">
              <a:solidFill>
                <a:srgbClr val="2B4A9D"/>
              </a:solidFill>
              <a:latin typeface="Poppins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14372" y="7555634"/>
            <a:ext cx="11682427" cy="11952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900"/>
              </a:lnSpc>
            </a:pPr>
            <a:r>
              <a:rPr lang="en-US" sz="3500" spc="350" dirty="0" err="1">
                <a:solidFill>
                  <a:srgbClr val="000000"/>
                </a:solidFill>
                <a:latin typeface="Lato"/>
              </a:rPr>
              <a:t>Apresentado</a:t>
            </a:r>
            <a:r>
              <a:rPr lang="en-US" sz="3500" spc="350" dirty="0">
                <a:solidFill>
                  <a:srgbClr val="000000"/>
                </a:solidFill>
                <a:latin typeface="Lato"/>
              </a:rPr>
              <a:t> </a:t>
            </a:r>
            <a:r>
              <a:rPr lang="en-US" sz="3500" spc="350" dirty="0" err="1">
                <a:solidFill>
                  <a:srgbClr val="000000"/>
                </a:solidFill>
                <a:latin typeface="Lato"/>
              </a:rPr>
              <a:t>por</a:t>
            </a:r>
            <a:r>
              <a:rPr lang="en-US" sz="3500" spc="350" dirty="0">
                <a:solidFill>
                  <a:srgbClr val="000000"/>
                </a:solidFill>
                <a:latin typeface="Lato"/>
              </a:rPr>
              <a:t>: João Victor, Paulo Vitor e </a:t>
            </a:r>
            <a:r>
              <a:rPr lang="en-US" sz="3500" spc="350" dirty="0" err="1">
                <a:solidFill>
                  <a:srgbClr val="000000"/>
                </a:solidFill>
                <a:latin typeface="Lato"/>
              </a:rPr>
              <a:t>Talysson</a:t>
            </a:r>
            <a:r>
              <a:rPr lang="en-US" sz="3500" spc="350" dirty="0">
                <a:solidFill>
                  <a:srgbClr val="000000"/>
                </a:solidFill>
                <a:latin typeface="Lato"/>
              </a:rPr>
              <a:t> Vasconcelos </a:t>
            </a:r>
          </a:p>
        </p:txBody>
      </p:sp>
      <p:sp>
        <p:nvSpPr>
          <p:cNvPr id="10" name="Freeform 10"/>
          <p:cNvSpPr/>
          <p:nvPr/>
        </p:nvSpPr>
        <p:spPr>
          <a:xfrm>
            <a:off x="-4134433" y="1004889"/>
            <a:ext cx="12993464" cy="2102579"/>
          </a:xfrm>
          <a:custGeom>
            <a:avLst/>
            <a:gdLst/>
            <a:ahLst/>
            <a:cxnLst/>
            <a:rect l="l" t="t" r="r" b="b"/>
            <a:pathLst>
              <a:path w="12993464" h="2102579">
                <a:moveTo>
                  <a:pt x="0" y="0"/>
                </a:moveTo>
                <a:lnTo>
                  <a:pt x="12993465" y="0"/>
                </a:lnTo>
                <a:lnTo>
                  <a:pt x="12993465" y="2102578"/>
                </a:lnTo>
                <a:lnTo>
                  <a:pt x="0" y="21025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9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11" name="Group 11"/>
          <p:cNvGrpSpPr/>
          <p:nvPr/>
        </p:nvGrpSpPr>
        <p:grpSpPr>
          <a:xfrm>
            <a:off x="0" y="0"/>
            <a:ext cx="541602" cy="10287000"/>
            <a:chOff x="0" y="0"/>
            <a:chExt cx="157867" cy="299846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57867" cy="2998468"/>
            </a:xfrm>
            <a:custGeom>
              <a:avLst/>
              <a:gdLst/>
              <a:ahLst/>
              <a:cxnLst/>
              <a:rect l="l" t="t" r="r" b="b"/>
              <a:pathLst>
                <a:path w="157867" h="2998468">
                  <a:moveTo>
                    <a:pt x="0" y="0"/>
                  </a:moveTo>
                  <a:lnTo>
                    <a:pt x="157867" y="0"/>
                  </a:lnTo>
                  <a:lnTo>
                    <a:pt x="157867" y="2998468"/>
                  </a:lnTo>
                  <a:lnTo>
                    <a:pt x="0" y="2998468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76816" y="0"/>
            <a:ext cx="452408" cy="10287000"/>
            <a:chOff x="0" y="0"/>
            <a:chExt cx="165040" cy="3752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5040" cy="3752726"/>
            </a:xfrm>
            <a:custGeom>
              <a:avLst/>
              <a:gdLst/>
              <a:ahLst/>
              <a:cxnLst/>
              <a:rect l="l" t="t" r="r" b="b"/>
              <a:pathLst>
                <a:path w="165040" h="3752726">
                  <a:moveTo>
                    <a:pt x="0" y="0"/>
                  </a:moveTo>
                  <a:lnTo>
                    <a:pt x="165040" y="0"/>
                  </a:lnTo>
                  <a:lnTo>
                    <a:pt x="165040" y="3752726"/>
                  </a:lnTo>
                  <a:lnTo>
                    <a:pt x="0" y="3752726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" name="Group 4"/>
          <p:cNvGrpSpPr/>
          <p:nvPr/>
        </p:nvGrpSpPr>
        <p:grpSpPr>
          <a:xfrm rot="-2700000">
            <a:off x="13266741" y="55428"/>
            <a:ext cx="10176144" cy="10176144"/>
            <a:chOff x="43346" y="43346"/>
            <a:chExt cx="1913890" cy="1913890"/>
          </a:xfrm>
        </p:grpSpPr>
        <p:sp>
          <p:nvSpPr>
            <p:cNvPr id="5" name="Freeform 5"/>
            <p:cNvSpPr/>
            <p:nvPr/>
          </p:nvSpPr>
          <p:spPr>
            <a:xfrm>
              <a:off x="43346" y="43346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1913890" y="0"/>
                  </a:lnTo>
                  <a:lnTo>
                    <a:pt x="1913890" y="1913890"/>
                  </a:lnTo>
                  <a:lnTo>
                    <a:pt x="0" y="191389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6" name="Group 6"/>
          <p:cNvGrpSpPr/>
          <p:nvPr/>
        </p:nvGrpSpPr>
        <p:grpSpPr>
          <a:xfrm rot="2700000">
            <a:off x="13042775" y="445888"/>
            <a:ext cx="9395227" cy="9395227"/>
            <a:chOff x="0" y="0"/>
            <a:chExt cx="1913890" cy="191389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8" name="Group 8"/>
          <p:cNvGrpSpPr/>
          <p:nvPr/>
        </p:nvGrpSpPr>
        <p:grpSpPr>
          <a:xfrm rot="2700000">
            <a:off x="11524419" y="8043030"/>
            <a:ext cx="6164339" cy="6164339"/>
            <a:chOff x="0" y="0"/>
            <a:chExt cx="1913890" cy="191389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0" name="Group 10"/>
          <p:cNvGrpSpPr/>
          <p:nvPr/>
        </p:nvGrpSpPr>
        <p:grpSpPr>
          <a:xfrm rot="2700000">
            <a:off x="11524419" y="-3920369"/>
            <a:ext cx="6164339" cy="6164339"/>
            <a:chOff x="0" y="0"/>
            <a:chExt cx="1913890" cy="191389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13890" cy="1913890"/>
            </a:xfrm>
            <a:custGeom>
              <a:avLst/>
              <a:gdLst/>
              <a:ahLst/>
              <a:cxnLst/>
              <a:rect l="l" t="t" r="r" b="b"/>
              <a:pathLst>
                <a:path w="1913890" h="1913890">
                  <a:moveTo>
                    <a:pt x="0" y="0"/>
                  </a:moveTo>
                  <a:lnTo>
                    <a:pt x="0" y="1913890"/>
                  </a:lnTo>
                  <a:lnTo>
                    <a:pt x="1913890" y="1913890"/>
                  </a:lnTo>
                  <a:lnTo>
                    <a:pt x="1913890" y="0"/>
                  </a:lnTo>
                  <a:lnTo>
                    <a:pt x="0" y="0"/>
                  </a:lnTo>
                  <a:close/>
                  <a:moveTo>
                    <a:pt x="1852930" y="1852930"/>
                  </a:moveTo>
                  <a:lnTo>
                    <a:pt x="59690" y="1852930"/>
                  </a:lnTo>
                  <a:lnTo>
                    <a:pt x="59690" y="59690"/>
                  </a:lnTo>
                  <a:lnTo>
                    <a:pt x="1852930" y="59690"/>
                  </a:lnTo>
                  <a:lnTo>
                    <a:pt x="1852930" y="185293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2" name="Group 12"/>
          <p:cNvGrpSpPr/>
          <p:nvPr/>
        </p:nvGrpSpPr>
        <p:grpSpPr>
          <a:xfrm rot="-5400000">
            <a:off x="4980926" y="-2587876"/>
            <a:ext cx="1629197" cy="7951652"/>
            <a:chOff x="0" y="0"/>
            <a:chExt cx="2354580" cy="1149204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353310" cy="11492046"/>
            </a:xfrm>
            <a:custGeom>
              <a:avLst/>
              <a:gdLst/>
              <a:ahLst/>
              <a:cxnLst/>
              <a:rect l="l" t="t" r="r" b="b"/>
              <a:pathLst>
                <a:path w="2353310" h="11492046">
                  <a:moveTo>
                    <a:pt x="784860" y="11424736"/>
                  </a:moveTo>
                  <a:cubicBezTo>
                    <a:pt x="905510" y="11465376"/>
                    <a:pt x="1042670" y="11492046"/>
                    <a:pt x="1177290" y="11492046"/>
                  </a:cubicBezTo>
                  <a:cubicBezTo>
                    <a:pt x="1311910" y="11492046"/>
                    <a:pt x="1441450" y="11469186"/>
                    <a:pt x="1560830" y="11428546"/>
                  </a:cubicBezTo>
                  <a:cubicBezTo>
                    <a:pt x="1563370" y="11427276"/>
                    <a:pt x="1565910" y="11427276"/>
                    <a:pt x="1568450" y="11426006"/>
                  </a:cubicBezTo>
                  <a:cubicBezTo>
                    <a:pt x="2016760" y="11263446"/>
                    <a:pt x="2346960" y="10834186"/>
                    <a:pt x="2353310" y="10306003"/>
                  </a:cubicBezTo>
                  <a:lnTo>
                    <a:pt x="2353310" y="0"/>
                  </a:lnTo>
                  <a:lnTo>
                    <a:pt x="0" y="0"/>
                  </a:lnTo>
                  <a:lnTo>
                    <a:pt x="0" y="10298100"/>
                  </a:lnTo>
                  <a:cubicBezTo>
                    <a:pt x="6350" y="10836726"/>
                    <a:pt x="331470" y="11265986"/>
                    <a:pt x="784860" y="11424736"/>
                  </a:cubicBez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123218" y="878380"/>
            <a:ext cx="7020782" cy="895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sz="6000" spc="300">
                <a:solidFill>
                  <a:srgbClr val="FFFFFF"/>
                </a:solidFill>
                <a:latin typeface="Poppins Ultra-Bold"/>
              </a:rPr>
              <a:t>AGENDA</a:t>
            </a:r>
          </a:p>
        </p:txBody>
      </p:sp>
      <p:grpSp>
        <p:nvGrpSpPr>
          <p:cNvPr id="15" name="Group 15"/>
          <p:cNvGrpSpPr/>
          <p:nvPr/>
        </p:nvGrpSpPr>
        <p:grpSpPr>
          <a:xfrm rot="-5400000">
            <a:off x="568482" y="2122656"/>
            <a:ext cx="829509" cy="1966473"/>
            <a:chOff x="0" y="0"/>
            <a:chExt cx="2354580" cy="558188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353310" cy="5581882"/>
            </a:xfrm>
            <a:custGeom>
              <a:avLst/>
              <a:gdLst/>
              <a:ahLst/>
              <a:cxnLst/>
              <a:rect l="l" t="t" r="r" b="b"/>
              <a:pathLst>
                <a:path w="2353310" h="5581882">
                  <a:moveTo>
                    <a:pt x="784860" y="5514572"/>
                  </a:moveTo>
                  <a:cubicBezTo>
                    <a:pt x="905510" y="5555212"/>
                    <a:pt x="1042670" y="5581882"/>
                    <a:pt x="1177290" y="5581882"/>
                  </a:cubicBezTo>
                  <a:cubicBezTo>
                    <a:pt x="1311910" y="5581882"/>
                    <a:pt x="1441450" y="5559022"/>
                    <a:pt x="1560830" y="5518382"/>
                  </a:cubicBezTo>
                  <a:cubicBezTo>
                    <a:pt x="1563370" y="5517112"/>
                    <a:pt x="1565910" y="5517112"/>
                    <a:pt x="1568450" y="5515842"/>
                  </a:cubicBezTo>
                  <a:cubicBezTo>
                    <a:pt x="2016760" y="5353282"/>
                    <a:pt x="2346960" y="4924022"/>
                    <a:pt x="2353310" y="4414024"/>
                  </a:cubicBezTo>
                  <a:lnTo>
                    <a:pt x="2353310" y="0"/>
                  </a:lnTo>
                  <a:lnTo>
                    <a:pt x="0" y="0"/>
                  </a:lnTo>
                  <a:lnTo>
                    <a:pt x="0" y="4410668"/>
                  </a:lnTo>
                  <a:cubicBezTo>
                    <a:pt x="6350" y="4926562"/>
                    <a:pt x="331470" y="5355822"/>
                    <a:pt x="784860" y="5514572"/>
                  </a:cubicBez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082286" y="2840721"/>
            <a:ext cx="8558948" cy="5668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900"/>
              </a:lnSpc>
            </a:pPr>
            <a:r>
              <a:rPr lang="en-US" sz="3500" spc="350" dirty="0">
                <a:solidFill>
                  <a:srgbClr val="2B4A9D"/>
                </a:solidFill>
                <a:latin typeface="Lato Bold"/>
              </a:rPr>
              <a:t>O </a:t>
            </a:r>
            <a:r>
              <a:rPr lang="en-US" sz="3500" spc="350" dirty="0" err="1">
                <a:solidFill>
                  <a:srgbClr val="2B4A9D"/>
                </a:solidFill>
                <a:latin typeface="Lato Bold"/>
              </a:rPr>
              <a:t>que</a:t>
            </a:r>
            <a:r>
              <a:rPr lang="en-US" sz="3500" spc="350" dirty="0">
                <a:solidFill>
                  <a:srgbClr val="2B4A9D"/>
                </a:solidFill>
                <a:latin typeface="Lato Bold"/>
              </a:rPr>
              <a:t> é </a:t>
            </a:r>
            <a:r>
              <a:rPr lang="en-US" sz="3500" spc="350" dirty="0" err="1">
                <a:solidFill>
                  <a:srgbClr val="2B4A9D"/>
                </a:solidFill>
                <a:latin typeface="Lato Bold"/>
              </a:rPr>
              <a:t>gerenciamento</a:t>
            </a:r>
            <a:r>
              <a:rPr lang="en-US" sz="3500" spc="350" dirty="0">
                <a:solidFill>
                  <a:srgbClr val="2B4A9D"/>
                </a:solidFill>
                <a:latin typeface="Lato Bold"/>
              </a:rPr>
              <a:t> de </a:t>
            </a:r>
            <a:r>
              <a:rPr lang="en-US" sz="3500" spc="350" dirty="0" err="1">
                <a:solidFill>
                  <a:srgbClr val="2B4A9D"/>
                </a:solidFill>
                <a:latin typeface="Lato Bold"/>
              </a:rPr>
              <a:t>estado</a:t>
            </a:r>
            <a:endParaRPr lang="en-US" sz="3500" spc="350" dirty="0">
              <a:solidFill>
                <a:srgbClr val="2B4A9D"/>
              </a:solidFill>
              <a:latin typeface="Lato Bold"/>
            </a:endParaRPr>
          </a:p>
        </p:txBody>
      </p:sp>
      <p:grpSp>
        <p:nvGrpSpPr>
          <p:cNvPr id="25" name="Group 15"/>
          <p:cNvGrpSpPr/>
          <p:nvPr/>
        </p:nvGrpSpPr>
        <p:grpSpPr>
          <a:xfrm rot="-5400000">
            <a:off x="555702" y="4343349"/>
            <a:ext cx="829509" cy="1966473"/>
            <a:chOff x="0" y="0"/>
            <a:chExt cx="2354580" cy="5581882"/>
          </a:xfrm>
        </p:grpSpPr>
        <p:sp>
          <p:nvSpPr>
            <p:cNvPr id="26" name="Freeform 16"/>
            <p:cNvSpPr/>
            <p:nvPr/>
          </p:nvSpPr>
          <p:spPr>
            <a:xfrm>
              <a:off x="0" y="0"/>
              <a:ext cx="2353310" cy="5581882"/>
            </a:xfrm>
            <a:custGeom>
              <a:avLst/>
              <a:gdLst/>
              <a:ahLst/>
              <a:cxnLst/>
              <a:rect l="l" t="t" r="r" b="b"/>
              <a:pathLst>
                <a:path w="2353310" h="5581882">
                  <a:moveTo>
                    <a:pt x="784860" y="5514572"/>
                  </a:moveTo>
                  <a:cubicBezTo>
                    <a:pt x="905510" y="5555212"/>
                    <a:pt x="1042670" y="5581882"/>
                    <a:pt x="1177290" y="5581882"/>
                  </a:cubicBezTo>
                  <a:cubicBezTo>
                    <a:pt x="1311910" y="5581882"/>
                    <a:pt x="1441450" y="5559022"/>
                    <a:pt x="1560830" y="5518382"/>
                  </a:cubicBezTo>
                  <a:cubicBezTo>
                    <a:pt x="1563370" y="5517112"/>
                    <a:pt x="1565910" y="5517112"/>
                    <a:pt x="1568450" y="5515842"/>
                  </a:cubicBezTo>
                  <a:cubicBezTo>
                    <a:pt x="2016760" y="5353282"/>
                    <a:pt x="2346960" y="4924022"/>
                    <a:pt x="2353310" y="4414024"/>
                  </a:cubicBezTo>
                  <a:lnTo>
                    <a:pt x="2353310" y="0"/>
                  </a:lnTo>
                  <a:lnTo>
                    <a:pt x="0" y="0"/>
                  </a:lnTo>
                  <a:lnTo>
                    <a:pt x="0" y="4410668"/>
                  </a:lnTo>
                  <a:cubicBezTo>
                    <a:pt x="6350" y="4926562"/>
                    <a:pt x="331470" y="5355822"/>
                    <a:pt x="784860" y="5514572"/>
                  </a:cubicBez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7" name="TextBox 23"/>
          <p:cNvSpPr txBox="1"/>
          <p:nvPr/>
        </p:nvSpPr>
        <p:spPr>
          <a:xfrm>
            <a:off x="2137072" y="5042093"/>
            <a:ext cx="7343333" cy="566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900"/>
              </a:lnSpc>
            </a:pPr>
            <a:r>
              <a:rPr lang="en-US" sz="3500" spc="350" dirty="0" err="1">
                <a:solidFill>
                  <a:srgbClr val="2B4A9D"/>
                </a:solidFill>
                <a:latin typeface="Lato Bold"/>
              </a:rPr>
              <a:t>SetState</a:t>
            </a:r>
            <a:endParaRPr lang="en-US" sz="3500" spc="350" dirty="0">
              <a:solidFill>
                <a:srgbClr val="2B4A9D"/>
              </a:solidFill>
              <a:latin typeface="Lato Bold"/>
            </a:endParaRPr>
          </a:p>
        </p:txBody>
      </p:sp>
      <p:grpSp>
        <p:nvGrpSpPr>
          <p:cNvPr id="28" name="Group 15"/>
          <p:cNvGrpSpPr/>
          <p:nvPr/>
        </p:nvGrpSpPr>
        <p:grpSpPr>
          <a:xfrm rot="-5400000">
            <a:off x="533847" y="7647334"/>
            <a:ext cx="829509" cy="1966473"/>
            <a:chOff x="0" y="0"/>
            <a:chExt cx="2354580" cy="5581882"/>
          </a:xfrm>
        </p:grpSpPr>
        <p:sp>
          <p:nvSpPr>
            <p:cNvPr id="29" name="Freeform 16"/>
            <p:cNvSpPr/>
            <p:nvPr/>
          </p:nvSpPr>
          <p:spPr>
            <a:xfrm>
              <a:off x="0" y="0"/>
              <a:ext cx="2353310" cy="5581882"/>
            </a:xfrm>
            <a:custGeom>
              <a:avLst/>
              <a:gdLst/>
              <a:ahLst/>
              <a:cxnLst/>
              <a:rect l="l" t="t" r="r" b="b"/>
              <a:pathLst>
                <a:path w="2353310" h="5581882">
                  <a:moveTo>
                    <a:pt x="784860" y="5514572"/>
                  </a:moveTo>
                  <a:cubicBezTo>
                    <a:pt x="905510" y="5555212"/>
                    <a:pt x="1042670" y="5581882"/>
                    <a:pt x="1177290" y="5581882"/>
                  </a:cubicBezTo>
                  <a:cubicBezTo>
                    <a:pt x="1311910" y="5581882"/>
                    <a:pt x="1441450" y="5559022"/>
                    <a:pt x="1560830" y="5518382"/>
                  </a:cubicBezTo>
                  <a:cubicBezTo>
                    <a:pt x="1563370" y="5517112"/>
                    <a:pt x="1565910" y="5517112"/>
                    <a:pt x="1568450" y="5515842"/>
                  </a:cubicBezTo>
                  <a:cubicBezTo>
                    <a:pt x="2016760" y="5353282"/>
                    <a:pt x="2346960" y="4924022"/>
                    <a:pt x="2353310" y="4414024"/>
                  </a:cubicBezTo>
                  <a:lnTo>
                    <a:pt x="2353310" y="0"/>
                  </a:lnTo>
                  <a:lnTo>
                    <a:pt x="0" y="0"/>
                  </a:lnTo>
                  <a:lnTo>
                    <a:pt x="0" y="4410668"/>
                  </a:lnTo>
                  <a:cubicBezTo>
                    <a:pt x="6350" y="4926562"/>
                    <a:pt x="331470" y="5355822"/>
                    <a:pt x="784860" y="5514572"/>
                  </a:cubicBez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30" name="TextBox 23"/>
          <p:cNvSpPr txBox="1"/>
          <p:nvPr/>
        </p:nvSpPr>
        <p:spPr>
          <a:xfrm>
            <a:off x="2137072" y="8355111"/>
            <a:ext cx="7343333" cy="566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900"/>
              </a:lnSpc>
            </a:pPr>
            <a:r>
              <a:rPr lang="en-US" sz="3500" spc="350" dirty="0" err="1">
                <a:solidFill>
                  <a:srgbClr val="2B4A9D"/>
                </a:solidFill>
                <a:latin typeface="Lato Bold"/>
              </a:rPr>
              <a:t>BLoc</a:t>
            </a:r>
            <a:endParaRPr lang="en-US" sz="3500" spc="350" dirty="0">
              <a:solidFill>
                <a:srgbClr val="2B4A9D"/>
              </a:solidFill>
              <a:latin typeface="Lato Bold"/>
            </a:endParaRPr>
          </a:p>
        </p:txBody>
      </p:sp>
      <p:grpSp>
        <p:nvGrpSpPr>
          <p:cNvPr id="31" name="Group 15"/>
          <p:cNvGrpSpPr/>
          <p:nvPr/>
        </p:nvGrpSpPr>
        <p:grpSpPr>
          <a:xfrm rot="-5400000">
            <a:off x="533847" y="8737178"/>
            <a:ext cx="829509" cy="1966473"/>
            <a:chOff x="0" y="0"/>
            <a:chExt cx="2354580" cy="5581882"/>
          </a:xfrm>
        </p:grpSpPr>
        <p:sp>
          <p:nvSpPr>
            <p:cNvPr id="32" name="Freeform 16"/>
            <p:cNvSpPr/>
            <p:nvPr/>
          </p:nvSpPr>
          <p:spPr>
            <a:xfrm>
              <a:off x="0" y="0"/>
              <a:ext cx="2353310" cy="5581882"/>
            </a:xfrm>
            <a:custGeom>
              <a:avLst/>
              <a:gdLst/>
              <a:ahLst/>
              <a:cxnLst/>
              <a:rect l="l" t="t" r="r" b="b"/>
              <a:pathLst>
                <a:path w="2353310" h="5581882">
                  <a:moveTo>
                    <a:pt x="784860" y="5514572"/>
                  </a:moveTo>
                  <a:cubicBezTo>
                    <a:pt x="905510" y="5555212"/>
                    <a:pt x="1042670" y="5581882"/>
                    <a:pt x="1177290" y="5581882"/>
                  </a:cubicBezTo>
                  <a:cubicBezTo>
                    <a:pt x="1311910" y="5581882"/>
                    <a:pt x="1441450" y="5559022"/>
                    <a:pt x="1560830" y="5518382"/>
                  </a:cubicBezTo>
                  <a:cubicBezTo>
                    <a:pt x="1563370" y="5517112"/>
                    <a:pt x="1565910" y="5517112"/>
                    <a:pt x="1568450" y="5515842"/>
                  </a:cubicBezTo>
                  <a:cubicBezTo>
                    <a:pt x="2016760" y="5353282"/>
                    <a:pt x="2346960" y="4924022"/>
                    <a:pt x="2353310" y="4414024"/>
                  </a:cubicBezTo>
                  <a:lnTo>
                    <a:pt x="2353310" y="0"/>
                  </a:lnTo>
                  <a:lnTo>
                    <a:pt x="0" y="0"/>
                  </a:lnTo>
                  <a:lnTo>
                    <a:pt x="0" y="4410668"/>
                  </a:lnTo>
                  <a:cubicBezTo>
                    <a:pt x="6350" y="4926562"/>
                    <a:pt x="331470" y="5355822"/>
                    <a:pt x="784860" y="5514572"/>
                  </a:cubicBez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33" name="TextBox 23"/>
          <p:cNvSpPr txBox="1"/>
          <p:nvPr/>
        </p:nvSpPr>
        <p:spPr>
          <a:xfrm>
            <a:off x="2123218" y="9437195"/>
            <a:ext cx="10449144" cy="5668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900"/>
              </a:lnSpc>
            </a:pPr>
            <a:r>
              <a:rPr lang="en-US" sz="3500" spc="350" dirty="0" err="1">
                <a:solidFill>
                  <a:srgbClr val="2B4A9D"/>
                </a:solidFill>
                <a:latin typeface="Lato Bold"/>
              </a:rPr>
              <a:t>InheritedWidget</a:t>
            </a:r>
            <a:endParaRPr lang="en-US" sz="3500" spc="350" dirty="0">
              <a:solidFill>
                <a:srgbClr val="2B4A9D"/>
              </a:solidFill>
              <a:latin typeface="Lato Bold"/>
            </a:endParaRPr>
          </a:p>
        </p:txBody>
      </p:sp>
      <p:grpSp>
        <p:nvGrpSpPr>
          <p:cNvPr id="34" name="Group 15"/>
          <p:cNvGrpSpPr/>
          <p:nvPr/>
        </p:nvGrpSpPr>
        <p:grpSpPr>
          <a:xfrm rot="-5400000">
            <a:off x="568483" y="3235518"/>
            <a:ext cx="829509" cy="1966473"/>
            <a:chOff x="0" y="0"/>
            <a:chExt cx="2354580" cy="5581882"/>
          </a:xfrm>
        </p:grpSpPr>
        <p:sp>
          <p:nvSpPr>
            <p:cNvPr id="35" name="Freeform 16"/>
            <p:cNvSpPr/>
            <p:nvPr/>
          </p:nvSpPr>
          <p:spPr>
            <a:xfrm>
              <a:off x="0" y="0"/>
              <a:ext cx="2353310" cy="5581882"/>
            </a:xfrm>
            <a:custGeom>
              <a:avLst/>
              <a:gdLst/>
              <a:ahLst/>
              <a:cxnLst/>
              <a:rect l="l" t="t" r="r" b="b"/>
              <a:pathLst>
                <a:path w="2353310" h="5581882">
                  <a:moveTo>
                    <a:pt x="784860" y="5514572"/>
                  </a:moveTo>
                  <a:cubicBezTo>
                    <a:pt x="905510" y="5555212"/>
                    <a:pt x="1042670" y="5581882"/>
                    <a:pt x="1177290" y="5581882"/>
                  </a:cubicBezTo>
                  <a:cubicBezTo>
                    <a:pt x="1311910" y="5581882"/>
                    <a:pt x="1441450" y="5559022"/>
                    <a:pt x="1560830" y="5518382"/>
                  </a:cubicBezTo>
                  <a:cubicBezTo>
                    <a:pt x="1563370" y="5517112"/>
                    <a:pt x="1565910" y="5517112"/>
                    <a:pt x="1568450" y="5515842"/>
                  </a:cubicBezTo>
                  <a:cubicBezTo>
                    <a:pt x="2016760" y="5353282"/>
                    <a:pt x="2346960" y="4924022"/>
                    <a:pt x="2353310" y="4414024"/>
                  </a:cubicBezTo>
                  <a:lnTo>
                    <a:pt x="2353310" y="0"/>
                  </a:lnTo>
                  <a:lnTo>
                    <a:pt x="0" y="0"/>
                  </a:lnTo>
                  <a:lnTo>
                    <a:pt x="0" y="4410668"/>
                  </a:lnTo>
                  <a:cubicBezTo>
                    <a:pt x="6350" y="4926562"/>
                    <a:pt x="331470" y="5355822"/>
                    <a:pt x="784860" y="5514572"/>
                  </a:cubicBez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36" name="TextBox 23"/>
          <p:cNvSpPr txBox="1"/>
          <p:nvPr/>
        </p:nvSpPr>
        <p:spPr>
          <a:xfrm>
            <a:off x="2123218" y="3929420"/>
            <a:ext cx="9992582" cy="5668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900"/>
              </a:lnSpc>
            </a:pPr>
            <a:r>
              <a:rPr lang="en-US" sz="3500" spc="350" dirty="0">
                <a:solidFill>
                  <a:srgbClr val="2B4A9D"/>
                </a:solidFill>
                <a:latin typeface="Lato Bold"/>
              </a:rPr>
              <a:t>Estado </a:t>
            </a:r>
            <a:r>
              <a:rPr lang="en-US" sz="3500" spc="350" dirty="0" err="1">
                <a:solidFill>
                  <a:srgbClr val="2B4A9D"/>
                </a:solidFill>
                <a:latin typeface="Lato Bold"/>
              </a:rPr>
              <a:t>Efêmero</a:t>
            </a:r>
            <a:endParaRPr lang="en-US" sz="3500" spc="350" dirty="0">
              <a:solidFill>
                <a:srgbClr val="2B4A9D"/>
              </a:solidFill>
              <a:latin typeface="Lato Bold"/>
            </a:endParaRPr>
          </a:p>
        </p:txBody>
      </p:sp>
      <p:grpSp>
        <p:nvGrpSpPr>
          <p:cNvPr id="37" name="Group 15"/>
          <p:cNvGrpSpPr/>
          <p:nvPr/>
        </p:nvGrpSpPr>
        <p:grpSpPr>
          <a:xfrm rot="-5400000">
            <a:off x="533847" y="5447642"/>
            <a:ext cx="829509" cy="1966473"/>
            <a:chOff x="0" y="0"/>
            <a:chExt cx="2354580" cy="5581882"/>
          </a:xfrm>
        </p:grpSpPr>
        <p:sp>
          <p:nvSpPr>
            <p:cNvPr id="38" name="Freeform 16"/>
            <p:cNvSpPr/>
            <p:nvPr/>
          </p:nvSpPr>
          <p:spPr>
            <a:xfrm>
              <a:off x="0" y="0"/>
              <a:ext cx="2353310" cy="5581882"/>
            </a:xfrm>
            <a:custGeom>
              <a:avLst/>
              <a:gdLst/>
              <a:ahLst/>
              <a:cxnLst/>
              <a:rect l="l" t="t" r="r" b="b"/>
              <a:pathLst>
                <a:path w="2353310" h="5581882">
                  <a:moveTo>
                    <a:pt x="784860" y="5514572"/>
                  </a:moveTo>
                  <a:cubicBezTo>
                    <a:pt x="905510" y="5555212"/>
                    <a:pt x="1042670" y="5581882"/>
                    <a:pt x="1177290" y="5581882"/>
                  </a:cubicBezTo>
                  <a:cubicBezTo>
                    <a:pt x="1311910" y="5581882"/>
                    <a:pt x="1441450" y="5559022"/>
                    <a:pt x="1560830" y="5518382"/>
                  </a:cubicBezTo>
                  <a:cubicBezTo>
                    <a:pt x="1563370" y="5517112"/>
                    <a:pt x="1565910" y="5517112"/>
                    <a:pt x="1568450" y="5515842"/>
                  </a:cubicBezTo>
                  <a:cubicBezTo>
                    <a:pt x="2016760" y="5353282"/>
                    <a:pt x="2346960" y="4924022"/>
                    <a:pt x="2353310" y="4414024"/>
                  </a:cubicBezTo>
                  <a:lnTo>
                    <a:pt x="2353310" y="0"/>
                  </a:lnTo>
                  <a:lnTo>
                    <a:pt x="0" y="0"/>
                  </a:lnTo>
                  <a:lnTo>
                    <a:pt x="0" y="4410668"/>
                  </a:lnTo>
                  <a:cubicBezTo>
                    <a:pt x="6350" y="4926562"/>
                    <a:pt x="331470" y="5355822"/>
                    <a:pt x="784860" y="5514572"/>
                  </a:cubicBez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39" name="TextBox 23"/>
          <p:cNvSpPr txBox="1"/>
          <p:nvPr/>
        </p:nvSpPr>
        <p:spPr>
          <a:xfrm>
            <a:off x="2123218" y="6166300"/>
            <a:ext cx="7343333" cy="569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900"/>
              </a:lnSpc>
            </a:pPr>
            <a:r>
              <a:rPr lang="en-US" sz="3600" spc="350" dirty="0">
                <a:solidFill>
                  <a:srgbClr val="2B4A9D"/>
                </a:solidFill>
                <a:latin typeface="Lato Bold"/>
              </a:rPr>
              <a:t>Estado do </a:t>
            </a:r>
            <a:r>
              <a:rPr lang="en-US" sz="3600" spc="350" dirty="0" err="1">
                <a:solidFill>
                  <a:srgbClr val="2B4A9D"/>
                </a:solidFill>
                <a:latin typeface="Lato Bold"/>
              </a:rPr>
              <a:t>Aplicativo</a:t>
            </a:r>
            <a:endParaRPr lang="en-US" sz="3600" spc="350" dirty="0">
              <a:solidFill>
                <a:srgbClr val="2B4A9D"/>
              </a:solidFill>
              <a:latin typeface="Lato Bold"/>
            </a:endParaRPr>
          </a:p>
        </p:txBody>
      </p:sp>
      <p:grpSp>
        <p:nvGrpSpPr>
          <p:cNvPr id="40" name="Group 15"/>
          <p:cNvGrpSpPr/>
          <p:nvPr/>
        </p:nvGrpSpPr>
        <p:grpSpPr>
          <a:xfrm rot="-5400000">
            <a:off x="568483" y="6552382"/>
            <a:ext cx="829509" cy="1966473"/>
            <a:chOff x="0" y="0"/>
            <a:chExt cx="2354580" cy="5581882"/>
          </a:xfrm>
        </p:grpSpPr>
        <p:sp>
          <p:nvSpPr>
            <p:cNvPr id="41" name="Freeform 16"/>
            <p:cNvSpPr/>
            <p:nvPr/>
          </p:nvSpPr>
          <p:spPr>
            <a:xfrm>
              <a:off x="0" y="0"/>
              <a:ext cx="2353310" cy="5581882"/>
            </a:xfrm>
            <a:custGeom>
              <a:avLst/>
              <a:gdLst/>
              <a:ahLst/>
              <a:cxnLst/>
              <a:rect l="l" t="t" r="r" b="b"/>
              <a:pathLst>
                <a:path w="2353310" h="5581882">
                  <a:moveTo>
                    <a:pt x="784860" y="5514572"/>
                  </a:moveTo>
                  <a:cubicBezTo>
                    <a:pt x="905510" y="5555212"/>
                    <a:pt x="1042670" y="5581882"/>
                    <a:pt x="1177290" y="5581882"/>
                  </a:cubicBezTo>
                  <a:cubicBezTo>
                    <a:pt x="1311910" y="5581882"/>
                    <a:pt x="1441450" y="5559022"/>
                    <a:pt x="1560830" y="5518382"/>
                  </a:cubicBezTo>
                  <a:cubicBezTo>
                    <a:pt x="1563370" y="5517112"/>
                    <a:pt x="1565910" y="5517112"/>
                    <a:pt x="1568450" y="5515842"/>
                  </a:cubicBezTo>
                  <a:cubicBezTo>
                    <a:pt x="2016760" y="5353282"/>
                    <a:pt x="2346960" y="4924022"/>
                    <a:pt x="2353310" y="4414024"/>
                  </a:cubicBezTo>
                  <a:lnTo>
                    <a:pt x="2353310" y="0"/>
                  </a:lnTo>
                  <a:lnTo>
                    <a:pt x="0" y="0"/>
                  </a:lnTo>
                  <a:lnTo>
                    <a:pt x="0" y="4410668"/>
                  </a:lnTo>
                  <a:cubicBezTo>
                    <a:pt x="6350" y="4926562"/>
                    <a:pt x="331470" y="5355822"/>
                    <a:pt x="784860" y="5514572"/>
                  </a:cubicBez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42" name="TextBox 23"/>
          <p:cNvSpPr txBox="1"/>
          <p:nvPr/>
        </p:nvSpPr>
        <p:spPr>
          <a:xfrm>
            <a:off x="2137072" y="7314039"/>
            <a:ext cx="7343333" cy="628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900"/>
              </a:lnSpc>
            </a:pPr>
            <a:r>
              <a:rPr lang="en-US" sz="3600" spc="350" dirty="0">
                <a:solidFill>
                  <a:srgbClr val="2B4A9D"/>
                </a:solidFill>
                <a:latin typeface="Lato Bold"/>
              </a:rPr>
              <a:t>Provider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3"/>
          <p:cNvSpPr txBox="1"/>
          <p:nvPr/>
        </p:nvSpPr>
        <p:spPr>
          <a:xfrm>
            <a:off x="5004954" y="571500"/>
            <a:ext cx="9549246" cy="16158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sz="5000" spc="300" dirty="0">
                <a:solidFill>
                  <a:srgbClr val="2B4A9D"/>
                </a:solidFill>
                <a:latin typeface="Poppins Ultra-Bold"/>
              </a:rPr>
              <a:t>O </a:t>
            </a:r>
            <a:r>
              <a:rPr lang="en-US" sz="5000" spc="300" dirty="0" err="1">
                <a:solidFill>
                  <a:srgbClr val="2B4A9D"/>
                </a:solidFill>
                <a:latin typeface="Poppins Ultra-Bold"/>
              </a:rPr>
              <a:t>que</a:t>
            </a:r>
            <a:r>
              <a:rPr lang="en-US" sz="5000" spc="300" dirty="0">
                <a:solidFill>
                  <a:srgbClr val="2B4A9D"/>
                </a:solidFill>
                <a:latin typeface="Poppins Ultra-Bold"/>
              </a:rPr>
              <a:t> é </a:t>
            </a:r>
            <a:r>
              <a:rPr lang="en-US" sz="5000" spc="300" dirty="0" err="1">
                <a:solidFill>
                  <a:srgbClr val="2B4A9D"/>
                </a:solidFill>
                <a:latin typeface="Poppins Ultra-Bold"/>
              </a:rPr>
              <a:t>gerenciamento</a:t>
            </a:r>
            <a:r>
              <a:rPr lang="en-US" sz="5000" spc="300" dirty="0">
                <a:solidFill>
                  <a:srgbClr val="2B4A9D"/>
                </a:solidFill>
                <a:latin typeface="Poppins Ultra-Bold"/>
              </a:rPr>
              <a:t> de </a:t>
            </a:r>
            <a:r>
              <a:rPr lang="en-US" sz="5000" spc="300" dirty="0" err="1">
                <a:solidFill>
                  <a:srgbClr val="2B4A9D"/>
                </a:solidFill>
                <a:latin typeface="Poppins Ultra-Bold"/>
              </a:rPr>
              <a:t>estado</a:t>
            </a:r>
            <a:endParaRPr lang="en-US" sz="5000" spc="300" dirty="0">
              <a:solidFill>
                <a:srgbClr val="2B4A9D"/>
              </a:solidFill>
              <a:latin typeface="Poppins Ultra-Bold"/>
            </a:endParaRPr>
          </a:p>
        </p:txBody>
      </p:sp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16673" y="3238500"/>
            <a:ext cx="16144008" cy="4924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gerenciamento de estados é uma parte fundamental para manter informações e responder a interações do usuário em um aplicativo </a:t>
            </a:r>
            <a:r>
              <a:rPr lang="pt-BR" sz="3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Flutter</a:t>
            </a: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pt-BR" sz="3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Há diversas maneiras para gerenciar estados. Nesta aula vamos apresentar o </a:t>
            </a:r>
            <a:r>
              <a:rPr lang="pt-BR" sz="3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SetState</a:t>
            </a: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</a:t>
            </a:r>
            <a:r>
              <a:rPr lang="pt-BR" sz="3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Provider</a:t>
            </a: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</a:t>
            </a:r>
            <a:r>
              <a:rPr lang="pt-BR" sz="3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BLoc</a:t>
            </a: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InheritedWidget</a:t>
            </a: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pt-BR" sz="3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Mas antes, devemos entender a diferença entre estado efêmero e estado do aplicativo.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3"/>
          <p:cNvSpPr txBox="1"/>
          <p:nvPr/>
        </p:nvSpPr>
        <p:spPr>
          <a:xfrm>
            <a:off x="5004954" y="571500"/>
            <a:ext cx="9549246" cy="7854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sz="5000" spc="300" dirty="0">
                <a:solidFill>
                  <a:srgbClr val="2B4A9D"/>
                </a:solidFill>
                <a:latin typeface="Poppins Ultra-Bold"/>
              </a:rPr>
              <a:t>Estado </a:t>
            </a:r>
            <a:r>
              <a:rPr lang="en-US" sz="5000" spc="300" dirty="0" err="1">
                <a:solidFill>
                  <a:srgbClr val="2B4A9D"/>
                </a:solidFill>
                <a:latin typeface="Poppins Ultra-Bold"/>
              </a:rPr>
              <a:t>Efêmero</a:t>
            </a:r>
            <a:endParaRPr lang="en-US" sz="5000" spc="300" dirty="0">
              <a:solidFill>
                <a:srgbClr val="2B4A9D"/>
              </a:solidFill>
              <a:latin typeface="Poppins Ultra-Bold"/>
            </a:endParaRPr>
          </a:p>
        </p:txBody>
      </p:sp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143000" y="2324100"/>
            <a:ext cx="16144008" cy="67710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estado efêmero, também chamado de estado da interface do usuário ou estado local, é o estado que pode ser contido em um único </a:t>
            </a:r>
            <a:r>
              <a:rPr lang="pt-BR" sz="3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widget</a:t>
            </a: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pt-BR" sz="3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Alguns exemplos são: página atual em um </a:t>
            </a:r>
            <a:r>
              <a:rPr lang="pt-BR" sz="3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PageView</a:t>
            </a: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progresso atual de uma animação complexa e uma guia atualmente selecionada em um </a:t>
            </a:r>
            <a:r>
              <a:rPr lang="pt-BR" sz="3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BottomNavigationBar</a:t>
            </a: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pt-BR" sz="3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Em resumo, no estado efêmero não há necessidade de utilizar técnicas de gerenciamento de estado, tudo o que precisa é de um arquivo </a:t>
            </a:r>
            <a:r>
              <a:rPr lang="pt-BR" sz="3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StatefulWidget</a:t>
            </a: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pt-BR" sz="3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 seguir é apresentado um exemplo do seu uso.</a:t>
            </a:r>
          </a:p>
        </p:txBody>
      </p:sp>
    </p:spTree>
    <p:extLst>
      <p:ext uri="{BB962C8B-B14F-4D97-AF65-F5344CB8AC3E}">
        <p14:creationId xmlns:p14="http://schemas.microsoft.com/office/powerpoint/2010/main" val="19294326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 rot="5400000">
            <a:off x="-245149" y="-189191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1600" y="2019300"/>
            <a:ext cx="8799841" cy="5791200"/>
          </a:xfrm>
          <a:prstGeom prst="rect">
            <a:avLst/>
          </a:prstGeom>
        </p:spPr>
      </p:pic>
      <p:sp>
        <p:nvSpPr>
          <p:cNvPr id="7" name="TextBox 16"/>
          <p:cNvSpPr txBox="1"/>
          <p:nvPr/>
        </p:nvSpPr>
        <p:spPr>
          <a:xfrm>
            <a:off x="30480" y="1053703"/>
            <a:ext cx="8686800" cy="92332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Neste exemplo, o item atualmente selecionado em uma barra de navegação é mantido no campo index, o qual é um estado efêmero;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pt-BR" sz="3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Nenhuma outra parte do aplicativo precisa utilizar o index, a variável muda apenas dentro do </a:t>
            </a:r>
            <a:r>
              <a:rPr lang="pt-BR" sz="3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MyHomepage</a:t>
            </a: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pt-BR" sz="3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Ademais, se o usuário fechar e reiniciar o aplicativo, você não se importa que o index seja zerado;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pt-BR" sz="3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</a:t>
            </a:r>
            <a:r>
              <a:rPr lang="pt-BR" sz="3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setState</a:t>
            </a:r>
            <a:r>
              <a:rPr lang="pt-BR" sz="3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é utilizado no estado efêmero, o qual será apresentado a seguir.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11428482" y="7836877"/>
            <a:ext cx="3926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Figura 01 – Estado efêmero</a:t>
            </a:r>
          </a:p>
        </p:txBody>
      </p:sp>
    </p:spTree>
    <p:extLst>
      <p:ext uri="{BB962C8B-B14F-4D97-AF65-F5344CB8AC3E}">
        <p14:creationId xmlns:p14="http://schemas.microsoft.com/office/powerpoint/2010/main" val="870380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3"/>
          <p:cNvSpPr txBox="1"/>
          <p:nvPr/>
        </p:nvSpPr>
        <p:spPr>
          <a:xfrm>
            <a:off x="5004954" y="190500"/>
            <a:ext cx="8115300" cy="7854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sz="5000" spc="300" dirty="0" err="1">
                <a:solidFill>
                  <a:srgbClr val="2B4A9D"/>
                </a:solidFill>
                <a:latin typeface="Poppins Ultra-Bold"/>
              </a:rPr>
              <a:t>SetState</a:t>
            </a:r>
            <a:endParaRPr lang="en-US" sz="5000" spc="300" dirty="0">
              <a:solidFill>
                <a:srgbClr val="2B4A9D"/>
              </a:solidFill>
              <a:latin typeface="Poppins Ultra-Bold"/>
            </a:endParaRPr>
          </a:p>
        </p:txBody>
      </p:sp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457200" y="2150353"/>
            <a:ext cx="7924800" cy="61555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setState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em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Flutter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uma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função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permite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atualizar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estado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um widget;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Quando algo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muda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no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estado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do widget, 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setState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chamado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para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notificar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o Flutter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algo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mudou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ele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precisa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redesenhar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a interface do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usuário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11147599" y="6286500"/>
            <a:ext cx="39453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Figura 02 – Uso do </a:t>
            </a:r>
            <a:r>
              <a:rPr lang="pt-BR" sz="2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setState</a:t>
            </a:r>
            <a:endParaRPr lang="pt-BR" sz="2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DE9A8D7-822E-5818-4DB3-A27203F2AD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8463" y="3771900"/>
            <a:ext cx="9166471" cy="2375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345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2" name="TextBox 16"/>
          <p:cNvSpPr txBox="1"/>
          <p:nvPr/>
        </p:nvSpPr>
        <p:spPr>
          <a:xfrm>
            <a:off x="228600" y="1914939"/>
            <a:ext cx="7924800" cy="7325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Quando 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usuário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cria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uma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nova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tarefa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uma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categoria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padrão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já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associada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(a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primeira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disponível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);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exemplo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se 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usuário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escolher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uma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outra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categoria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para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sua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tarefa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setState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atualiza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seu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estado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 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Flutter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então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reconstrói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o widget 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seu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conteúdo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.</a:t>
            </a:r>
          </a:p>
        </p:txBody>
      </p:sp>
      <p:sp>
        <p:nvSpPr>
          <p:cNvPr id="17" name="CaixaDeTexto 16"/>
          <p:cNvSpPr txBox="1"/>
          <p:nvPr/>
        </p:nvSpPr>
        <p:spPr>
          <a:xfrm>
            <a:off x="10358552" y="7940308"/>
            <a:ext cx="54874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Figura 03 – Exemplo usando o </a:t>
            </a:r>
            <a:r>
              <a:rPr lang="pt-BR" sz="2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SetState</a:t>
            </a:r>
            <a:endParaRPr lang="pt-BR" sz="2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881EAD6-77BB-9A74-D437-6C376DD74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29035"/>
            <a:ext cx="8830907" cy="6611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942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7" name="CaixaDeTexto 6"/>
          <p:cNvSpPr txBox="1"/>
          <p:nvPr/>
        </p:nvSpPr>
        <p:spPr>
          <a:xfrm>
            <a:off x="816673" y="2247900"/>
            <a:ext cx="16611599" cy="27853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5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exemplo com o código-fonte completo com o </a:t>
            </a:r>
            <a:r>
              <a:rPr lang="pt-BR" sz="35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setState</a:t>
            </a:r>
            <a:r>
              <a:rPr lang="pt-BR" sz="35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está no arquivo </a:t>
            </a:r>
            <a:r>
              <a:rPr lang="pt-BR" sz="3500" b="1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setState.dart</a:t>
            </a:r>
            <a:endParaRPr lang="pt-BR" sz="3500" b="1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algn="just"/>
            <a:endParaRPr lang="pt-BR" sz="3500" b="1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algn="just"/>
            <a:endParaRPr lang="pt-BR" sz="3500" b="1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algn="just"/>
            <a:r>
              <a:rPr lang="pt-BR" sz="35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exemplo para o aplicativo de tarefas está disponível no projeto </a:t>
            </a:r>
            <a:r>
              <a:rPr lang="pt-BR" sz="3500" b="1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Priorize</a:t>
            </a:r>
            <a:r>
              <a:rPr lang="pt-BR" sz="35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89001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3"/>
          <p:cNvSpPr txBox="1"/>
          <p:nvPr/>
        </p:nvSpPr>
        <p:spPr>
          <a:xfrm>
            <a:off x="5004954" y="425246"/>
            <a:ext cx="8115300" cy="7854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sz="5000" spc="300" dirty="0">
                <a:solidFill>
                  <a:srgbClr val="2B4A9D"/>
                </a:solidFill>
                <a:latin typeface="Poppins Ultra-Bold"/>
              </a:rPr>
              <a:t>Estado do </a:t>
            </a:r>
            <a:r>
              <a:rPr lang="en-US" sz="5000" spc="300" dirty="0" err="1">
                <a:solidFill>
                  <a:srgbClr val="2B4A9D"/>
                </a:solidFill>
                <a:latin typeface="Poppins Ultra-Bold"/>
              </a:rPr>
              <a:t>Aplicativo</a:t>
            </a:r>
            <a:endParaRPr lang="en-US" sz="5000" spc="300" dirty="0">
              <a:solidFill>
                <a:srgbClr val="2B4A9D"/>
              </a:solidFill>
              <a:latin typeface="Poppins Ultra-Bold"/>
            </a:endParaRPr>
          </a:p>
        </p:txBody>
      </p:sp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401781" y="2476500"/>
            <a:ext cx="17321646" cy="61555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estado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aplicativo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também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chamado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estado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compartilhado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aquele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compartilhado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em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muitas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partes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aplicativo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será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mantido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entre as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sessões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usuário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Alguns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exemplos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são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: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preferências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usuário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informações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login,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notificações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em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um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aplicativo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rede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social, 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carrinho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compras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em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um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aplicativo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comércio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eletrônico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entre outros;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seguir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serão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apresentadas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algumas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formas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para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realizar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gerenciamento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estados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98372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3"/>
          <p:cNvSpPr txBox="1"/>
          <p:nvPr/>
        </p:nvSpPr>
        <p:spPr>
          <a:xfrm>
            <a:off x="4876800" y="342900"/>
            <a:ext cx="9854046" cy="16158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sz="5000" spc="300" dirty="0" err="1">
                <a:solidFill>
                  <a:srgbClr val="2B4A9D"/>
                </a:solidFill>
                <a:latin typeface="Poppins Ultra-Bold"/>
              </a:rPr>
              <a:t>Gerenciamento</a:t>
            </a:r>
            <a:r>
              <a:rPr lang="en-US" sz="5000" spc="300" dirty="0">
                <a:solidFill>
                  <a:srgbClr val="2B4A9D"/>
                </a:solidFill>
                <a:latin typeface="Poppins Ultra-Bold"/>
              </a:rPr>
              <a:t> de </a:t>
            </a:r>
            <a:r>
              <a:rPr lang="en-US" sz="5000" spc="300" dirty="0" err="1">
                <a:solidFill>
                  <a:srgbClr val="2B4A9D"/>
                </a:solidFill>
                <a:latin typeface="Poppins Ultra-Bold"/>
              </a:rPr>
              <a:t>estados</a:t>
            </a:r>
            <a:r>
              <a:rPr lang="en-US" sz="5000" spc="300" dirty="0">
                <a:solidFill>
                  <a:srgbClr val="2B4A9D"/>
                </a:solidFill>
                <a:latin typeface="Poppins Ultra-Bold"/>
              </a:rPr>
              <a:t> com o Provider</a:t>
            </a:r>
          </a:p>
        </p:txBody>
      </p:sp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381000" y="2705100"/>
            <a:ext cx="17321646" cy="60944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Provider é um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pacote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gerenciamento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estados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no Flutter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fornece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dados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ou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as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funcinalidades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para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toda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árvore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widgets;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Sua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ideia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principal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fornecer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um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meio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eficiente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passar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dados entre widgets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sem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necessidade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intermediários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Provider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flexível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pode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utilizado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para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diferentes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cenários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gerenciamento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estados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desde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pequenas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aplicações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até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as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mais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complexas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</a:t>
            </a:r>
          </a:p>
          <a:p>
            <a:pPr algn="just">
              <a:lnSpc>
                <a:spcPts val="4759"/>
              </a:lnSpc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1677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3"/>
          <p:cNvSpPr txBox="1"/>
          <p:nvPr/>
        </p:nvSpPr>
        <p:spPr>
          <a:xfrm>
            <a:off x="4876800" y="342900"/>
            <a:ext cx="9854046" cy="7854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sz="5000" spc="300" dirty="0">
                <a:solidFill>
                  <a:srgbClr val="2B4A9D"/>
                </a:solidFill>
                <a:latin typeface="Poppins Ultra-Bold"/>
              </a:rPr>
              <a:t>Como </a:t>
            </a:r>
            <a:r>
              <a:rPr lang="en-US" sz="5000" spc="300" dirty="0" err="1">
                <a:solidFill>
                  <a:srgbClr val="2B4A9D"/>
                </a:solidFill>
                <a:latin typeface="Poppins Ultra-Bold"/>
              </a:rPr>
              <a:t>utilizar</a:t>
            </a:r>
            <a:r>
              <a:rPr lang="en-US" sz="5000" spc="300" dirty="0">
                <a:solidFill>
                  <a:srgbClr val="2B4A9D"/>
                </a:solidFill>
                <a:latin typeface="Poppins Ultra-Bold"/>
              </a:rPr>
              <a:t> o Provider</a:t>
            </a:r>
          </a:p>
        </p:txBody>
      </p:sp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304800" y="1662341"/>
            <a:ext cx="17602200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Verifique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se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há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dependência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Provider no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arquivo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“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pubspec.yaml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”.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Rode no terminal 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comando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“flutter pub get”.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6703639" y="8678893"/>
            <a:ext cx="4804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Figura 04 – Dependência </a:t>
            </a:r>
            <a:r>
              <a:rPr lang="pt-BR" sz="2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Provider</a:t>
            </a:r>
            <a:endParaRPr lang="pt-BR" sz="2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51E2D2A-B05E-1793-3725-4917731CA6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118" y="5670411"/>
            <a:ext cx="4459764" cy="2943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684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3"/>
          <p:cNvSpPr txBox="1"/>
          <p:nvPr/>
        </p:nvSpPr>
        <p:spPr>
          <a:xfrm>
            <a:off x="4876800" y="342900"/>
            <a:ext cx="9854046" cy="7854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sz="5000" spc="300" dirty="0">
                <a:solidFill>
                  <a:srgbClr val="2B4A9D"/>
                </a:solidFill>
                <a:latin typeface="Poppins Ultra-Bold"/>
              </a:rPr>
              <a:t>Como </a:t>
            </a:r>
            <a:r>
              <a:rPr lang="en-US" sz="5000" spc="300" dirty="0" err="1">
                <a:solidFill>
                  <a:srgbClr val="2B4A9D"/>
                </a:solidFill>
                <a:latin typeface="Poppins Ultra-Bold"/>
              </a:rPr>
              <a:t>utilizar</a:t>
            </a:r>
            <a:r>
              <a:rPr lang="en-US" sz="5000" spc="300" dirty="0">
                <a:solidFill>
                  <a:srgbClr val="2B4A9D"/>
                </a:solidFill>
                <a:latin typeface="Poppins Ultra-Bold"/>
              </a:rPr>
              <a:t> o Provider</a:t>
            </a:r>
          </a:p>
        </p:txBody>
      </p:sp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476943" y="1128371"/>
            <a:ext cx="9296400" cy="92332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Neste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exemplo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inicialmente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definido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o Provider,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onde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criada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uma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instância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“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ChangeNotifierProvider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”;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“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ChangeNotifierProvider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” é 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responsável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por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notificar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para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widgets se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houveram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mudanças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nas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informações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eles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devem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atualizados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Essa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instância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recebe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dois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argumentos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. 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primeiro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é o “create”,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mostra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vai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alterado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. 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segundo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é o “child”,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quem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precisa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avisado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quando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isso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for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alterado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.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11535860" y="7277100"/>
            <a:ext cx="47452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Figura 05 – Definição do </a:t>
            </a:r>
            <a:r>
              <a:rPr lang="pt-BR" sz="2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Provider</a:t>
            </a:r>
            <a:endParaRPr lang="pt-BR" sz="2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07BD6E7-1CF4-6216-AAC8-641422C98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1875671"/>
            <a:ext cx="6992326" cy="540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6779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 rot="5400000">
            <a:off x="-141986" y="-174537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28600" y="800100"/>
            <a:ext cx="10058400" cy="98488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“Consumer”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utilizado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para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consumir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informação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está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no provider,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neste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caso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irá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consumir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o “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CounterProvider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”;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“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CounterProvider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”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uma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classe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estende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o “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ChangeNotifier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”;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“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ChangeNotifier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”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uma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classe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simples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incluída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no Flutter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fornece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notificação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alterações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seus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ouvintes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Portanto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o “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CounterProvider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”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capaz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notificar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seus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ouvintes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sobre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as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mudanças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no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estado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.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11801159" y="7277100"/>
            <a:ext cx="4214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Figura 06 – Uso do </a:t>
            </a:r>
            <a:r>
              <a:rPr lang="pt-BR" sz="2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Consumer</a:t>
            </a:r>
            <a:endParaRPr lang="pt-BR" sz="2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FAA4800-E705-2C7A-D9D4-8A93A78BD7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963660"/>
            <a:ext cx="7154273" cy="4334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657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8" name="CaixaDeTexto 7"/>
          <p:cNvSpPr txBox="1"/>
          <p:nvPr/>
        </p:nvSpPr>
        <p:spPr>
          <a:xfrm>
            <a:off x="6624089" y="8801100"/>
            <a:ext cx="54970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Figura 07 – Exemplo usando o </a:t>
            </a:r>
            <a:r>
              <a:rPr lang="pt-BR" sz="2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Provider</a:t>
            </a:r>
            <a:endParaRPr lang="pt-BR" sz="2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D985295-C0E4-9E91-BF0F-2A1B7785C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730" y="1030490"/>
            <a:ext cx="8516539" cy="7659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4732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7" name="CaixaDeTexto 6"/>
          <p:cNvSpPr txBox="1"/>
          <p:nvPr/>
        </p:nvSpPr>
        <p:spPr>
          <a:xfrm>
            <a:off x="816673" y="2247900"/>
            <a:ext cx="1661159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5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exemplo com o código-fonte completo utilizando o  </a:t>
            </a:r>
            <a:r>
              <a:rPr lang="pt-BR" sz="35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Provider</a:t>
            </a:r>
            <a:r>
              <a:rPr lang="pt-BR" sz="35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está no arquivo </a:t>
            </a:r>
            <a:r>
              <a:rPr lang="pt-BR" sz="3500" b="1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provider.dart</a:t>
            </a:r>
            <a:r>
              <a:rPr lang="pt-BR" sz="3500" b="1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093782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3"/>
          <p:cNvSpPr txBox="1"/>
          <p:nvPr/>
        </p:nvSpPr>
        <p:spPr>
          <a:xfrm>
            <a:off x="5004954" y="190500"/>
            <a:ext cx="8115300" cy="7854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sz="5000" spc="300" dirty="0" err="1">
                <a:solidFill>
                  <a:srgbClr val="2B4A9D"/>
                </a:solidFill>
                <a:latin typeface="Poppins Ultra-Bold"/>
              </a:rPr>
              <a:t>BLoc</a:t>
            </a:r>
            <a:endParaRPr lang="en-US" sz="5000" spc="300" dirty="0">
              <a:solidFill>
                <a:srgbClr val="2B4A9D"/>
              </a:solidFill>
              <a:latin typeface="Poppins Ultra-Bold"/>
            </a:endParaRPr>
          </a:p>
        </p:txBody>
      </p:sp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80554" y="1866900"/>
            <a:ext cx="9448800" cy="73866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Bloc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uma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arquitetura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gerenciamento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estado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mais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escalável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organizada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Ele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separa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lógica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negócios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da interface do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usuário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Bloc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responsável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por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gerenciar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estado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aplicação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(o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contador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) 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widgets (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MyWidget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)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utilizam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o Bloc para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acessar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esses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dados 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atualizar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a interface do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usuário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12506248" y="6519081"/>
            <a:ext cx="35108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Figura 08 – Uso do </a:t>
            </a:r>
            <a:r>
              <a:rPr lang="pt-BR" sz="2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BLoc</a:t>
            </a:r>
            <a:endParaRPr lang="pt-BR" sz="2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38FB6B1-AAA3-983E-4F32-D31F02940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399" y="3900314"/>
            <a:ext cx="6882597" cy="2614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893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8" name="CaixaDeTexto 7"/>
          <p:cNvSpPr txBox="1"/>
          <p:nvPr/>
        </p:nvSpPr>
        <p:spPr>
          <a:xfrm>
            <a:off x="6400800" y="8496300"/>
            <a:ext cx="50257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Figura 09 – Exemplo usando o </a:t>
            </a:r>
            <a:r>
              <a:rPr lang="pt-BR" sz="2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BLoc</a:t>
            </a:r>
            <a:endParaRPr lang="pt-BR" sz="2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25C8378-F7A9-24BC-AAC5-24DE31606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790700"/>
            <a:ext cx="6800270" cy="610046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0BB74C8D-630E-8B70-A195-D944A64BCD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0829" y="1790700"/>
            <a:ext cx="6800269" cy="6107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74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7" name="CaixaDeTexto 6"/>
          <p:cNvSpPr txBox="1"/>
          <p:nvPr/>
        </p:nvSpPr>
        <p:spPr>
          <a:xfrm>
            <a:off x="816673" y="2247900"/>
            <a:ext cx="1661159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5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exemplo com o código-fonte completo utilizando o </a:t>
            </a:r>
            <a:r>
              <a:rPr lang="pt-BR" sz="35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InheritedWidget</a:t>
            </a:r>
            <a:r>
              <a:rPr lang="pt-BR" sz="35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está no arquivo </a:t>
            </a:r>
            <a:r>
              <a:rPr lang="pt-BR" sz="3500" b="1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BLoc.dart</a:t>
            </a:r>
            <a:r>
              <a:rPr lang="pt-BR" sz="3500" b="1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302739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3"/>
          <p:cNvSpPr txBox="1"/>
          <p:nvPr/>
        </p:nvSpPr>
        <p:spPr>
          <a:xfrm>
            <a:off x="4307031" y="7620"/>
            <a:ext cx="10311246" cy="7854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sz="5000" spc="300" dirty="0" err="1">
                <a:solidFill>
                  <a:srgbClr val="2B4A9D"/>
                </a:solidFill>
                <a:latin typeface="Poppins Ultra-Bold"/>
              </a:rPr>
              <a:t>InheritedWidget</a:t>
            </a:r>
            <a:endParaRPr lang="en-US" sz="5000" spc="300" dirty="0">
              <a:solidFill>
                <a:srgbClr val="2B4A9D"/>
              </a:solidFill>
              <a:latin typeface="Poppins Ultra-Bold"/>
            </a:endParaRPr>
          </a:p>
        </p:txBody>
      </p:sp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28600" y="1409700"/>
            <a:ext cx="9448800" cy="7325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InheritedWidget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é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uma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classe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do Flutter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permite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compartilhar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dados entre widgets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árvore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widgets de forma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eficiente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;</a:t>
            </a:r>
          </a:p>
          <a:p>
            <a:pPr algn="just">
              <a:lnSpc>
                <a:spcPts val="4759"/>
              </a:lnSpc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exemplo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,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ele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atua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como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um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meio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para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compartilhar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dados das tasks entre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widgets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na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árvore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de widgets;</a:t>
            </a: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endParaRPr lang="en-US" sz="3399" spc="339" dirty="0">
              <a:solidFill>
                <a:srgbClr val="000000"/>
              </a:solidFill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  <a:p>
            <a:pPr marL="457200" indent="-457200" algn="just">
              <a:lnSpc>
                <a:spcPts val="4759"/>
              </a:lnSpc>
              <a:buFont typeface="Arial" panose="020B0604020202020204" pitchFamily="34" charset="0"/>
              <a:buChar char="•"/>
            </a:pP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Facilita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o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compartilhamento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dos dados,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permitindo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que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widgets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sejam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atualizados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  <a:r>
              <a:rPr lang="en-US" sz="3399" spc="339" dirty="0" err="1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automaticamente</a:t>
            </a:r>
            <a:r>
              <a:rPr lang="en-US" sz="3399" spc="339" dirty="0">
                <a:solidFill>
                  <a:srgbClr val="000000"/>
                </a:solidFill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11621005" y="6896100"/>
            <a:ext cx="5052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Figura 10 – Uso do </a:t>
            </a:r>
            <a:r>
              <a:rPr lang="pt-BR" sz="2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InheritedWidget</a:t>
            </a:r>
            <a:endParaRPr lang="pt-BR" sz="2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AB04CF5-25A5-554C-6BBE-28695939D5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924300"/>
            <a:ext cx="6806596" cy="283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8870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8" name="CaixaDeTexto 7"/>
          <p:cNvSpPr txBox="1"/>
          <p:nvPr/>
        </p:nvSpPr>
        <p:spPr>
          <a:xfrm>
            <a:off x="5033404" y="8811898"/>
            <a:ext cx="61670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Figura 11 – Exemplo com o </a:t>
            </a:r>
            <a:r>
              <a:rPr lang="pt-BR" sz="24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InheritedWidget</a:t>
            </a:r>
            <a:endParaRPr lang="pt-BR" sz="2400" dirty="0">
              <a:latin typeface="Lato" panose="020B0604020202020204" charset="0"/>
              <a:ea typeface="Lato" panose="020B0604020202020204" charset="0"/>
              <a:cs typeface="Lato" panose="020B060402020202020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4C2E720-0044-6176-2096-009CE3976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483" y="1012868"/>
            <a:ext cx="5791200" cy="519457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7AD49F5-2538-4C9C-456E-44351B544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6223270"/>
            <a:ext cx="8004283" cy="2411145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FCDAB0C3-B897-5BB2-BE95-3126A1DAF7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1012868"/>
            <a:ext cx="5790457" cy="5194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134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7" name="CaixaDeTexto 6"/>
          <p:cNvSpPr txBox="1"/>
          <p:nvPr/>
        </p:nvSpPr>
        <p:spPr>
          <a:xfrm>
            <a:off x="816673" y="2247900"/>
            <a:ext cx="1661159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5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O exemplo com o código-fonte completo utilizando o </a:t>
            </a:r>
            <a:r>
              <a:rPr lang="pt-BR" sz="3500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InheritedWidget</a:t>
            </a:r>
            <a:r>
              <a:rPr lang="pt-BR" sz="3500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está no arquivo </a:t>
            </a:r>
            <a:r>
              <a:rPr lang="pt-BR" sz="3500" b="1" dirty="0" err="1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inheritedWidget.dart</a:t>
            </a:r>
            <a:r>
              <a:rPr lang="pt-BR" sz="3500" b="1" dirty="0"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262658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3"/>
          <p:cNvSpPr txBox="1"/>
          <p:nvPr/>
        </p:nvSpPr>
        <p:spPr>
          <a:xfrm>
            <a:off x="4876800" y="32511"/>
            <a:ext cx="8115300" cy="7854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</a:pPr>
            <a:r>
              <a:rPr lang="en-US" sz="5000" spc="300" dirty="0" err="1">
                <a:solidFill>
                  <a:srgbClr val="2B4A9D"/>
                </a:solidFill>
                <a:latin typeface="Poppins Ultra-Bold"/>
              </a:rPr>
              <a:t>Referências</a:t>
            </a:r>
            <a:endParaRPr lang="en-US" sz="5000" spc="300" dirty="0">
              <a:solidFill>
                <a:srgbClr val="2B4A9D"/>
              </a:solidFill>
              <a:latin typeface="Poppins Ultra-Bold"/>
            </a:endParaRPr>
          </a:p>
        </p:txBody>
      </p:sp>
      <p:grpSp>
        <p:nvGrpSpPr>
          <p:cNvPr id="14" name="Group 14"/>
          <p:cNvGrpSpPr/>
          <p:nvPr/>
        </p:nvGrpSpPr>
        <p:grpSpPr>
          <a:xfrm rot="5400000">
            <a:off x="-1309" y="1309"/>
            <a:ext cx="1635964" cy="1633346"/>
            <a:chOff x="0" y="0"/>
            <a:chExt cx="6350000" cy="6339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6339840"/>
            </a:xfrm>
            <a:custGeom>
              <a:avLst/>
              <a:gdLst/>
              <a:ahLst/>
              <a:cxnLst/>
              <a:rect l="l" t="t" r="r" b="b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lnTo>
                    <a:pt x="6350000" y="6339840"/>
                  </a:lnTo>
                  <a:close/>
                </a:path>
              </a:pathLst>
            </a:custGeom>
            <a:solidFill>
              <a:srgbClr val="2B4A9D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66800" y="1014187"/>
            <a:ext cx="16372608" cy="92628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t-BR" sz="3600" dirty="0"/>
              <a:t>LOUISE, M. </a:t>
            </a:r>
            <a:r>
              <a:rPr lang="pt-BR" sz="3600" b="1" dirty="0" err="1"/>
              <a:t>SetState</a:t>
            </a:r>
            <a:r>
              <a:rPr lang="pt-BR" sz="3600" b="1" dirty="0"/>
              <a:t> e o Gerenciamento de estado no </a:t>
            </a:r>
            <a:r>
              <a:rPr lang="pt-BR" sz="3600" b="1" dirty="0" err="1"/>
              <a:t>Flutter</a:t>
            </a:r>
            <a:r>
              <a:rPr lang="pt-BR" sz="3600" dirty="0"/>
              <a:t>. Disponível em: </a:t>
            </a:r>
            <a:r>
              <a:rPr lang="pt-BR" sz="3600" dirty="0">
                <a:hlinkClick r:id="rId2"/>
              </a:rPr>
              <a:t>https://medium.com/@maizalouise/setstate-e-o-gerenciamento-de-estado-no-flutter-60128977d4d</a:t>
            </a:r>
            <a:r>
              <a:rPr lang="pt-BR" sz="3600" dirty="0"/>
              <a:t>. Acesso em: 24 mar. 2024.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t-BR" sz="3600" b="1" dirty="0" err="1"/>
              <a:t>Differentiate</a:t>
            </a:r>
            <a:r>
              <a:rPr lang="pt-BR" sz="3600" b="1" dirty="0"/>
              <a:t> </a:t>
            </a:r>
            <a:r>
              <a:rPr lang="pt-BR" sz="3600" b="1" dirty="0" err="1"/>
              <a:t>between</a:t>
            </a:r>
            <a:r>
              <a:rPr lang="pt-BR" sz="3600" b="1" dirty="0"/>
              <a:t> </a:t>
            </a:r>
            <a:r>
              <a:rPr lang="pt-BR" sz="3600" b="1" dirty="0" err="1"/>
              <a:t>ephemeral</a:t>
            </a:r>
            <a:r>
              <a:rPr lang="pt-BR" sz="3600" b="1" dirty="0"/>
              <a:t> </a:t>
            </a:r>
            <a:r>
              <a:rPr lang="pt-BR" sz="3600" b="1" dirty="0" err="1"/>
              <a:t>state</a:t>
            </a:r>
            <a:r>
              <a:rPr lang="pt-BR" sz="3600" b="1" dirty="0"/>
              <a:t> </a:t>
            </a:r>
            <a:r>
              <a:rPr lang="pt-BR" sz="3600" b="1" dirty="0" err="1"/>
              <a:t>and</a:t>
            </a:r>
            <a:r>
              <a:rPr lang="pt-BR" sz="3600" b="1" dirty="0"/>
              <a:t> </a:t>
            </a:r>
            <a:r>
              <a:rPr lang="pt-BR" sz="3600" b="1" dirty="0" err="1"/>
              <a:t>app</a:t>
            </a:r>
            <a:r>
              <a:rPr lang="pt-BR" sz="3600" b="1" dirty="0"/>
              <a:t> </a:t>
            </a:r>
            <a:r>
              <a:rPr lang="pt-BR" sz="3600" b="1" dirty="0" err="1"/>
              <a:t>state</a:t>
            </a:r>
            <a:r>
              <a:rPr lang="pt-BR" sz="3600" dirty="0"/>
              <a:t>. Disponível em: </a:t>
            </a:r>
            <a:r>
              <a:rPr lang="pt-BR" sz="3600" dirty="0">
                <a:hlinkClick r:id="rId3"/>
              </a:rPr>
              <a:t>https://docs.flutter.dev/data-and-backend/state-mgmt/ephemeral-vs-app</a:t>
            </a:r>
            <a:r>
              <a:rPr lang="pt-BR" sz="3600" dirty="0"/>
              <a:t>. Acesso em: 24 mar. 2024.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t-BR" sz="3600" b="1" dirty="0"/>
              <a:t>O que é gerenciamento de estados no </a:t>
            </a:r>
            <a:r>
              <a:rPr lang="pt-BR" sz="3600" b="1" dirty="0" err="1"/>
              <a:t>Flutter</a:t>
            </a:r>
            <a:r>
              <a:rPr lang="pt-BR" sz="3600" b="1" dirty="0"/>
              <a:t> e principais ferramentas</a:t>
            </a:r>
            <a:r>
              <a:rPr lang="pt-BR" sz="3600" dirty="0"/>
              <a:t>. Disponível em: </a:t>
            </a:r>
            <a:r>
              <a:rPr lang="pt-BR" sz="3600" dirty="0">
                <a:hlinkClick r:id="rId4"/>
              </a:rPr>
              <a:t>https://www.alura.com.br/artigos/gerenciamento-de-estados-flutter-principais-ferramentas</a:t>
            </a:r>
            <a:r>
              <a:rPr lang="pt-BR" sz="3600" dirty="0"/>
              <a:t>. Acesso em: 24 mar. 2024.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t-BR" sz="3600" b="1" dirty="0" err="1"/>
              <a:t>Simple</a:t>
            </a:r>
            <a:r>
              <a:rPr lang="pt-BR" sz="3600" b="1" dirty="0"/>
              <a:t> </a:t>
            </a:r>
            <a:r>
              <a:rPr lang="pt-BR" sz="3600" b="1" dirty="0" err="1"/>
              <a:t>app</a:t>
            </a:r>
            <a:r>
              <a:rPr lang="pt-BR" sz="3600" b="1" dirty="0"/>
              <a:t> </a:t>
            </a:r>
            <a:r>
              <a:rPr lang="pt-BR" sz="3600" b="1" dirty="0" err="1"/>
              <a:t>state</a:t>
            </a:r>
            <a:r>
              <a:rPr lang="pt-BR" sz="3600" b="1" dirty="0"/>
              <a:t> management</a:t>
            </a:r>
            <a:r>
              <a:rPr lang="pt-BR" sz="3600" dirty="0"/>
              <a:t>. Disponível em: </a:t>
            </a:r>
            <a:r>
              <a:rPr lang="pt-BR" sz="3600" dirty="0">
                <a:hlinkClick r:id="rId5"/>
              </a:rPr>
              <a:t>https://docs.flutter.dev/data-and-backend/state-mgmt/simple</a:t>
            </a:r>
            <a:r>
              <a:rPr lang="pt-BR" sz="3600" dirty="0"/>
              <a:t>. Acesso em: 30 mar. 2024.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t-BR" sz="3600" b="1" dirty="0"/>
              <a:t>Como gerenciar estados com </a:t>
            </a:r>
            <a:r>
              <a:rPr lang="pt-BR" sz="3600" b="1" dirty="0" err="1"/>
              <a:t>Flutter</a:t>
            </a:r>
            <a:r>
              <a:rPr lang="pt-BR" sz="3600" b="1" dirty="0"/>
              <a:t> </a:t>
            </a:r>
            <a:r>
              <a:rPr lang="pt-BR" sz="3600" b="1" dirty="0" err="1"/>
              <a:t>Provider</a:t>
            </a:r>
            <a:r>
              <a:rPr lang="pt-BR" sz="3600" dirty="0"/>
              <a:t>. Disponível em: </a:t>
            </a:r>
            <a:r>
              <a:rPr lang="pt-BR" sz="3600" dirty="0">
                <a:hlinkClick r:id="rId6"/>
              </a:rPr>
              <a:t>https://www.alura.com.br/artigos/como-gerenciar-estados-com-flutter-provider</a:t>
            </a:r>
            <a:r>
              <a:rPr lang="pt-BR" sz="3600" dirty="0"/>
              <a:t>. Acesso em: 30 mar. 2024.</a:t>
            </a:r>
          </a:p>
        </p:txBody>
      </p:sp>
    </p:spTree>
    <p:extLst>
      <p:ext uri="{BB962C8B-B14F-4D97-AF65-F5344CB8AC3E}">
        <p14:creationId xmlns:p14="http://schemas.microsoft.com/office/powerpoint/2010/main" val="1617782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799</TotalTime>
  <Words>1130</Words>
  <Application>Microsoft Office PowerPoint</Application>
  <PresentationFormat>Personalizar</PresentationFormat>
  <Paragraphs>103</Paragraphs>
  <Slides>22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9" baseType="lpstr">
      <vt:lpstr>Lato</vt:lpstr>
      <vt:lpstr>Poppins Ultra-Bold</vt:lpstr>
      <vt:lpstr>Lato Bold</vt:lpstr>
      <vt:lpstr>Calibri</vt:lpstr>
      <vt:lpstr>Poppins Bold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de Flutter</dc:title>
  <dc:creator>natalia</dc:creator>
  <cp:lastModifiedBy>Paulo Vítor</cp:lastModifiedBy>
  <cp:revision>62</cp:revision>
  <dcterms:created xsi:type="dcterms:W3CDTF">2006-08-16T00:00:00Z</dcterms:created>
  <dcterms:modified xsi:type="dcterms:W3CDTF">2025-11-25T01:43:42Z</dcterms:modified>
  <dc:identifier>DAF-TiBPULQ</dc:identifier>
</cp:coreProperties>
</file>